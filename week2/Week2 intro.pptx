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6" r:id="rId3"/>
    <p:sldId id="257" r:id="rId4"/>
    <p:sldId id="268" r:id="rId5"/>
    <p:sldId id="258" r:id="rId6"/>
    <p:sldId id="262" r:id="rId7"/>
    <p:sldId id="269" r:id="rId8"/>
    <p:sldId id="259" r:id="rId9"/>
    <p:sldId id="260" r:id="rId10"/>
    <p:sldId id="264" r:id="rId11"/>
    <p:sldId id="261" r:id="rId12"/>
    <p:sldId id="265" r:id="rId13"/>
    <p:sldId id="474" r:id="rId14"/>
    <p:sldId id="270" r:id="rId15"/>
    <p:sldId id="299" r:id="rId16"/>
    <p:sldId id="301" r:id="rId17"/>
    <p:sldId id="310" r:id="rId18"/>
    <p:sldId id="355" r:id="rId19"/>
    <p:sldId id="4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AF45D-43F6-3840-AD27-CB2C768DA2A7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54B5D-4EF2-3F43-A3BD-845D3A182E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838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54B5D-4EF2-3F43-A3BD-845D3A182EA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261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54B5D-4EF2-3F43-A3BD-845D3A182EA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070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54B5D-4EF2-3F43-A3BD-845D3A182EA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110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1331A-3D1C-4DFD-C8B6-0E5884018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78D95-D5DC-8014-4916-94128F0F8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5713B-0D16-A60F-223E-57851BA6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9827-C546-BD42-A308-2313D6B15A8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E6FA1-C19C-5D34-69AF-67572D28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E4DF1-A291-3CB1-A141-DA64C8F6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E30A-4319-F944-B0A2-0E15C784BD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699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79FD4-618B-C1BA-BF62-98374ABE0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67AA0-6436-F412-B1D9-BF44457C5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EDD2A-061E-6A5E-8AE4-2BD57AFAC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9827-C546-BD42-A308-2313D6B15A8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8A3D7-A853-C8ED-0EBE-BC886ABCE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BD2A4-F9C1-7179-8AFD-BFA0E2E3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E30A-4319-F944-B0A2-0E15C784BD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713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CCA1E-0935-FA00-2437-CA1D07A3F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10DEF-459A-029C-C89C-3323A3D90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1B9AA-CA44-FA3E-7E05-E0D4D8B5E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9827-C546-BD42-A308-2313D6B15A8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FE83E-C814-403A-4E38-4B03DA6A2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1692C-E8F3-D3CA-987D-4D88A244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E30A-4319-F944-B0A2-0E15C784BD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9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87DDD-DA58-A704-9399-BFC5BCAD0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6D352-A758-6D4B-C02A-5D3BBEEB0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014C6-A407-5FD0-8B07-0DDF77E2F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4D4C0-32ED-7FBA-8C87-EABC8F2EC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9827-C546-BD42-A308-2313D6B15A8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136C6-5AB5-7771-A7D6-E413B0E3D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29D15-A3F5-E732-D2F2-541DF67E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E30A-4319-F944-B0A2-0E15C784BD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829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9F85-2F58-BDBB-006A-B299A87DA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7AC71-2376-D8C5-9003-AC824CC3C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DA0CF-ABA5-FFCB-7FDE-725034100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429D71-E926-0AE9-EA2B-0FDA697D9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8F71C-9463-4387-61CE-914B93967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4F8F22-631B-500A-1392-CBD334CA2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9827-C546-BD42-A308-2313D6B15A8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1E4AF8-5341-9F8F-4D16-DF98BBDD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7449BD-5A30-91DB-EAC0-9027FBEB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E30A-4319-F944-B0A2-0E15C784BD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11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44A3F-992C-9505-40CF-9254849B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D8CCB-E927-5622-9550-06444BFAE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9827-C546-BD42-A308-2313D6B15A8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499D3F-717F-547D-18CB-0FC0D489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9DB82-C610-0542-E707-73F58E62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E30A-4319-F944-B0A2-0E15C784BD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92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B880D-3B23-E2DA-98DC-003A312F8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9827-C546-BD42-A308-2313D6B15A8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F5399C-8847-39A1-04DD-E27FFF36F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12CC4-F42E-4651-8286-CC84733FE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E30A-4319-F944-B0A2-0E15C784BD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59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23775-D5E6-0E4F-9D49-154C4D4DE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14B48-9907-E26F-362D-E50789EB3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C7528-17C7-51EA-BDF0-893F049AF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D50EB-4A49-BD38-F7A8-D5B3B750B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9827-C546-BD42-A308-2313D6B15A8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3BA15-EF91-CACE-D5C8-138CB675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D94C6-1C0C-7169-20BC-699A2C29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E30A-4319-F944-B0A2-0E15C784BD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46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12660-8B04-394C-E961-D2FBE67CB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BC0AA3-19A7-8B81-A55E-7AE78ED075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FC660-58A1-7348-7A43-E19D7BE16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0DB08-C63A-D050-01C9-4A6684B41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9827-C546-BD42-A308-2313D6B15A8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6DE3C-5D1C-183C-C2E7-1D9741BC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814BB-2E70-A1E2-718A-28E032CB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E30A-4319-F944-B0A2-0E15C784BD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0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F99A8-5389-355E-72E6-7EEB3A609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808E9-063C-F5F1-407F-0F705504E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EADF0-D448-6245-2825-1B17A1E1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9827-C546-BD42-A308-2313D6B15A8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62034-4F40-663F-79CC-D1354D719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E344B-8021-C4D1-5342-5F99341B1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E30A-4319-F944-B0A2-0E15C784BD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89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A5B80B-D8BE-0938-A943-57183393B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41965-CCB1-7A54-03F3-556043A39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63A27-DDA7-AFAC-A10F-A5E48E22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9827-C546-BD42-A308-2313D6B15A8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AB74B-45AB-34B8-935D-7AB0C5BF9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35992-0BA4-B42C-6A5C-A6E89470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E30A-4319-F944-B0A2-0E15C784BD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37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268300-7666-0894-0F91-1E89A9541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4431F-6177-D5C0-BBD8-8DE56005B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C6DED-FAF0-99C7-AC74-969C2ABC8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789827-C546-BD42-A308-2313D6B15A8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D81A0-4DEF-7FDB-8EC2-A84BD39C2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AA211-DBED-75D4-868D-C141C06A2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B0E30A-4319-F944-B0A2-0E15C784BD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62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NUL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B720-D461-9858-D87F-E8CB838E47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GB" dirty="0"/>
            </a:br>
            <a:r>
              <a:rPr lang="en-GB" sz="4200" dirty="0"/>
              <a:t>A very short introduction to…</a:t>
            </a:r>
            <a:br>
              <a:rPr lang="en-GB" sz="4200" dirty="0"/>
            </a:br>
            <a:r>
              <a:rPr lang="en-GB" dirty="0"/>
              <a:t>Density functional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7B3E13-EEBF-2A17-E157-E62841CE3F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Modelling low-dimensional materials, week 2</a:t>
            </a:r>
            <a:br>
              <a:rPr lang="en-GB" dirty="0"/>
            </a:br>
            <a:r>
              <a:rPr lang="en-GB" dirty="0"/>
              <a:t>Dr Igor Roncevic</a:t>
            </a:r>
          </a:p>
        </p:txBody>
      </p:sp>
    </p:spTree>
    <p:extLst>
      <p:ext uri="{BB962C8B-B14F-4D97-AF65-F5344CB8AC3E}">
        <p14:creationId xmlns:p14="http://schemas.microsoft.com/office/powerpoint/2010/main" val="3306539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D9007-9BB7-FBC3-B760-2DC0CE1FE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EBEA8E-CA40-B12A-E9A3-C17EE2CAE52F}"/>
              </a:ext>
            </a:extLst>
          </p:cNvPr>
          <p:cNvSpPr txBox="1"/>
          <p:nvPr/>
        </p:nvSpPr>
        <p:spPr>
          <a:xfrm>
            <a:off x="4063711" y="11897"/>
            <a:ext cx="4064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Density functional theory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D08B1F-5AAA-5714-A651-0C81D229D9C5}"/>
              </a:ext>
            </a:extLst>
          </p:cNvPr>
          <p:cNvSpPr txBox="1"/>
          <p:nvPr/>
        </p:nvSpPr>
        <p:spPr>
          <a:xfrm>
            <a:off x="139855" y="1120676"/>
            <a:ext cx="12052145" cy="1800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b="1" dirty="0"/>
              <a:t>1926</a:t>
            </a:r>
            <a:r>
              <a:rPr lang="en-GB" sz="2400" dirty="0"/>
              <a:t> Schrödinger equation</a:t>
            </a:r>
          </a:p>
          <a:p>
            <a:pPr>
              <a:spcAft>
                <a:spcPts val="600"/>
              </a:spcAft>
            </a:pPr>
            <a:r>
              <a:rPr lang="en-GB" sz="2400" b="1" dirty="0"/>
              <a:t>1927</a:t>
            </a:r>
            <a:r>
              <a:rPr lang="en-GB" sz="2400" dirty="0"/>
              <a:t> Hartree’s “self-consistent field” (SCF) method</a:t>
            </a:r>
          </a:p>
          <a:p>
            <a:pPr>
              <a:spcAft>
                <a:spcPts val="600"/>
              </a:spcAft>
            </a:pPr>
            <a:r>
              <a:rPr lang="en-GB" sz="2400" b="1" dirty="0"/>
              <a:t>1930</a:t>
            </a:r>
            <a:r>
              <a:rPr lang="en-GB" sz="2400" dirty="0"/>
              <a:t> Fock points out that Hartree’s wavefunction does not obey exchange symmetry</a:t>
            </a:r>
          </a:p>
          <a:p>
            <a:pPr>
              <a:spcAft>
                <a:spcPts val="600"/>
              </a:spcAft>
            </a:pPr>
            <a:r>
              <a:rPr lang="en-GB" sz="2400" b="1" dirty="0"/>
              <a:t>1935</a:t>
            </a:r>
            <a:r>
              <a:rPr lang="en-GB" sz="2400" dirty="0"/>
              <a:t> “Self-consistent field, with exchange”, birth of the modern Hartree-Fock (HF) method</a:t>
            </a:r>
          </a:p>
        </p:txBody>
      </p:sp>
    </p:spTree>
    <p:extLst>
      <p:ext uri="{BB962C8B-B14F-4D97-AF65-F5344CB8AC3E}">
        <p14:creationId xmlns:p14="http://schemas.microsoft.com/office/powerpoint/2010/main" val="2882404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81B649-1CB1-921A-2201-BDF42EC16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523220"/>
            <a:ext cx="7772400" cy="1554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79E448-C02B-36C0-AB58-60F459D222BF}"/>
              </a:ext>
            </a:extLst>
          </p:cNvPr>
          <p:cNvSpPr txBox="1"/>
          <p:nvPr/>
        </p:nvSpPr>
        <p:spPr>
          <a:xfrm>
            <a:off x="4368539" y="0"/>
            <a:ext cx="3454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Hartree-Fock (1930s)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10FA46-8F8C-171C-64EA-0201DB49FACA}"/>
              </a:ext>
            </a:extLst>
          </p:cNvPr>
          <p:cNvCxnSpPr>
            <a:cxnSpLocks/>
          </p:cNvCxnSpPr>
          <p:nvPr/>
        </p:nvCxnSpPr>
        <p:spPr>
          <a:xfrm flipV="1">
            <a:off x="3301215" y="1541484"/>
            <a:ext cx="620730" cy="738663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B528511-C532-95DE-EFA3-89033FFE3A5C}"/>
              </a:ext>
            </a:extLst>
          </p:cNvPr>
          <p:cNvSpPr txBox="1"/>
          <p:nvPr/>
        </p:nvSpPr>
        <p:spPr>
          <a:xfrm>
            <a:off x="444775" y="2280147"/>
            <a:ext cx="34771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internuclear repulsion</a:t>
            </a:r>
          </a:p>
          <a:p>
            <a:pPr algn="ctr"/>
            <a:r>
              <a:rPr lang="en-GB" sz="2400" dirty="0">
                <a:solidFill>
                  <a:srgbClr val="00B050"/>
                </a:solidFill>
              </a:rPr>
              <a:t>free</a:t>
            </a:r>
            <a:r>
              <a:rPr lang="en-GB" sz="2400" dirty="0"/>
              <a:t> (B–O approximation)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D15C81-D128-BD8D-A44B-145925F9A1DB}"/>
              </a:ext>
            </a:extLst>
          </p:cNvPr>
          <p:cNvCxnSpPr>
            <a:cxnSpLocks/>
          </p:cNvCxnSpPr>
          <p:nvPr/>
        </p:nvCxnSpPr>
        <p:spPr>
          <a:xfrm flipV="1">
            <a:off x="5163671" y="2130678"/>
            <a:ext cx="267570" cy="1096616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6F23027-A44A-9F87-1D3F-C6C9845C2D45}"/>
              </a:ext>
            </a:extLst>
          </p:cNvPr>
          <p:cNvSpPr txBox="1"/>
          <p:nvPr/>
        </p:nvSpPr>
        <p:spPr>
          <a:xfrm>
            <a:off x="3301215" y="3227294"/>
            <a:ext cx="37854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Kinetic energy and electron-nuclear attraction</a:t>
            </a:r>
          </a:p>
          <a:p>
            <a:pPr algn="ctr"/>
            <a:r>
              <a:rPr lang="en-GB" sz="2400" dirty="0"/>
              <a:t>one-electron integrals </a:t>
            </a:r>
          </a:p>
          <a:p>
            <a:pPr algn="ctr"/>
            <a:r>
              <a:rPr lang="en-GB" sz="2400" dirty="0">
                <a:solidFill>
                  <a:srgbClr val="00B050"/>
                </a:solidFill>
              </a:rPr>
              <a:t>very cheap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D5ABD0-E090-A6EF-90FA-8A3D8F420A6D}"/>
              </a:ext>
            </a:extLst>
          </p:cNvPr>
          <p:cNvSpPr txBox="1"/>
          <p:nvPr/>
        </p:nvSpPr>
        <p:spPr>
          <a:xfrm>
            <a:off x="7961737" y="2280147"/>
            <a:ext cx="37854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electron-electron repulsion</a:t>
            </a:r>
          </a:p>
          <a:p>
            <a:pPr algn="ctr"/>
            <a:r>
              <a:rPr lang="en-GB" sz="2400" dirty="0"/>
              <a:t>two-electron integrals </a:t>
            </a:r>
          </a:p>
          <a:p>
            <a:pPr algn="ctr"/>
            <a:r>
              <a:rPr lang="en-GB" sz="2400" dirty="0">
                <a:solidFill>
                  <a:srgbClr val="FF0000"/>
                </a:solidFill>
              </a:rPr>
              <a:t>expensive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6890E4-AFCC-D406-85B4-6BC148420EFD}"/>
              </a:ext>
            </a:extLst>
          </p:cNvPr>
          <p:cNvCxnSpPr>
            <a:cxnSpLocks/>
          </p:cNvCxnSpPr>
          <p:nvPr/>
        </p:nvCxnSpPr>
        <p:spPr>
          <a:xfrm flipH="1" flipV="1">
            <a:off x="8755706" y="1715168"/>
            <a:ext cx="478235" cy="564979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ACD6594-7A2A-EDFB-6671-126F8702603A}"/>
              </a:ext>
            </a:extLst>
          </p:cNvPr>
          <p:cNvSpPr txBox="1"/>
          <p:nvPr/>
        </p:nvSpPr>
        <p:spPr>
          <a:xfrm>
            <a:off x="478488" y="5143936"/>
            <a:ext cx="11235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HF is approximate, it localises electrons too much.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Systematic improvement requires adding more two-electron integrals.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We don’t like two-electron integrals. Is there an alternative?</a:t>
            </a:r>
          </a:p>
        </p:txBody>
      </p:sp>
    </p:spTree>
    <p:extLst>
      <p:ext uri="{BB962C8B-B14F-4D97-AF65-F5344CB8AC3E}">
        <p14:creationId xmlns:p14="http://schemas.microsoft.com/office/powerpoint/2010/main" val="95639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90FA1-FDF9-4E69-2DE3-CF9C68EF7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6F7491-15CA-82D0-2EF7-A7B8122A12CD}"/>
              </a:ext>
            </a:extLst>
          </p:cNvPr>
          <p:cNvSpPr txBox="1"/>
          <p:nvPr/>
        </p:nvSpPr>
        <p:spPr>
          <a:xfrm>
            <a:off x="4063711" y="11897"/>
            <a:ext cx="4064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Density functional theory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6FD252-361D-5F26-EBDF-5E3CD5EC02BC}"/>
              </a:ext>
            </a:extLst>
          </p:cNvPr>
          <p:cNvSpPr txBox="1"/>
          <p:nvPr/>
        </p:nvSpPr>
        <p:spPr>
          <a:xfrm>
            <a:off x="139855" y="1037547"/>
            <a:ext cx="12052145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b="1" dirty="0"/>
              <a:t>1926</a:t>
            </a:r>
            <a:r>
              <a:rPr lang="en-GB" sz="2400" dirty="0"/>
              <a:t> Schrödinger equation</a:t>
            </a:r>
          </a:p>
          <a:p>
            <a:pPr>
              <a:spcAft>
                <a:spcPts val="600"/>
              </a:spcAft>
            </a:pPr>
            <a:r>
              <a:rPr lang="en-GB" sz="2400" b="1" dirty="0"/>
              <a:t>1927</a:t>
            </a:r>
            <a:r>
              <a:rPr lang="en-GB" sz="2400" dirty="0"/>
              <a:t> Hartree’s “self-consistent field” (SCF) method</a:t>
            </a:r>
          </a:p>
          <a:p>
            <a:pPr>
              <a:spcAft>
                <a:spcPts val="600"/>
              </a:spcAft>
            </a:pPr>
            <a:r>
              <a:rPr lang="en-GB" sz="2400" b="1" dirty="0"/>
              <a:t>1930</a:t>
            </a:r>
            <a:r>
              <a:rPr lang="en-GB" sz="2400" dirty="0"/>
              <a:t> Fock points out that Hartree’s wavefunction does not obey exchange symmetry</a:t>
            </a:r>
          </a:p>
          <a:p>
            <a:pPr>
              <a:spcAft>
                <a:spcPts val="600"/>
              </a:spcAft>
            </a:pPr>
            <a:r>
              <a:rPr lang="en-GB" sz="2400" b="1" dirty="0"/>
              <a:t>1935</a:t>
            </a:r>
            <a:r>
              <a:rPr lang="en-GB" sz="2400" dirty="0"/>
              <a:t> “Self-consistent field, with exchange”, birth of the modern Hartree-Fock (HF) method</a:t>
            </a:r>
          </a:p>
          <a:p>
            <a:pPr>
              <a:spcAft>
                <a:spcPts val="600"/>
              </a:spcAft>
            </a:pPr>
            <a:r>
              <a:rPr lang="en-GB" sz="2400" b="1" dirty="0"/>
              <a:t>1950s</a:t>
            </a:r>
            <a:r>
              <a:rPr lang="en-GB" sz="2400" dirty="0"/>
              <a:t> Computers become strong enough to calculate small molecules</a:t>
            </a:r>
          </a:p>
          <a:p>
            <a:pPr>
              <a:spcAft>
                <a:spcPts val="600"/>
              </a:spcAft>
            </a:pPr>
            <a:r>
              <a:rPr lang="en-GB" sz="2400" b="1" dirty="0"/>
              <a:t>1950s + </a:t>
            </a:r>
            <a:r>
              <a:rPr lang="en-GB" sz="2400" b="1" dirty="0" err="1"/>
              <a:t>δ</a:t>
            </a:r>
            <a:r>
              <a:rPr lang="en-GB" sz="2400" dirty="0"/>
              <a:t> Computational physicists and chemists realise that HF has poor accuracy</a:t>
            </a:r>
          </a:p>
          <a:p>
            <a:pPr>
              <a:spcAft>
                <a:spcPts val="600"/>
              </a:spcAft>
            </a:pPr>
            <a:r>
              <a:rPr lang="en-GB" sz="2400" b="1" dirty="0">
                <a:solidFill>
                  <a:srgbClr val="FF0000"/>
                </a:solidFill>
              </a:rPr>
              <a:t>1964</a:t>
            </a:r>
            <a:r>
              <a:rPr lang="en-GB" sz="2400" dirty="0">
                <a:solidFill>
                  <a:srgbClr val="FF0000"/>
                </a:solidFill>
              </a:rPr>
              <a:t> Hohenberg-Kohn theorems: </a:t>
            </a:r>
          </a:p>
          <a:p>
            <a:pPr>
              <a:spcAft>
                <a:spcPts val="600"/>
              </a:spcAft>
            </a:pPr>
            <a:r>
              <a:rPr lang="en-GB" sz="2400" dirty="0">
                <a:solidFill>
                  <a:srgbClr val="FF0000"/>
                </a:solidFill>
              </a:rPr>
              <a:t>	1. The ground state of a system is completely determined by its density.</a:t>
            </a:r>
          </a:p>
          <a:p>
            <a:pPr>
              <a:spcAft>
                <a:spcPts val="600"/>
              </a:spcAft>
            </a:pPr>
            <a:r>
              <a:rPr lang="en-GB" sz="2400" dirty="0">
                <a:solidFill>
                  <a:srgbClr val="FF0000"/>
                </a:solidFill>
              </a:rPr>
              <a:t>	2. The exact ground-state density minimises the total energy. </a:t>
            </a:r>
          </a:p>
        </p:txBody>
      </p:sp>
    </p:spTree>
    <p:extLst>
      <p:ext uri="{BB962C8B-B14F-4D97-AF65-F5344CB8AC3E}">
        <p14:creationId xmlns:p14="http://schemas.microsoft.com/office/powerpoint/2010/main" val="10418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055DF-5177-D936-B107-1303B3908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CC6DC1F-1F67-75A7-4AB4-C683569F6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424" y="2971547"/>
            <a:ext cx="5250274" cy="129965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552C72C-E46A-7996-9A8C-605F75FA7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8" y="477442"/>
            <a:ext cx="7772400" cy="1554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582D0D-C30A-A0CF-DDD9-C7047BB4B78B}"/>
              </a:ext>
            </a:extLst>
          </p:cNvPr>
          <p:cNvSpPr txBox="1"/>
          <p:nvPr/>
        </p:nvSpPr>
        <p:spPr>
          <a:xfrm>
            <a:off x="4063711" y="11897"/>
            <a:ext cx="4064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Density functional theory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90CD12-C02C-7DFC-A3D7-C6DE8EFF1CDA}"/>
              </a:ext>
            </a:extLst>
          </p:cNvPr>
          <p:cNvSpPr txBox="1"/>
          <p:nvPr/>
        </p:nvSpPr>
        <p:spPr>
          <a:xfrm>
            <a:off x="9162122" y="2647137"/>
            <a:ext cx="30298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exchange and correlation</a:t>
            </a:r>
          </a:p>
          <a:p>
            <a:pPr algn="ctr"/>
            <a:r>
              <a:rPr lang="en-GB" sz="2400" dirty="0">
                <a:solidFill>
                  <a:srgbClr val="FF0000"/>
                </a:solidFill>
              </a:rPr>
              <a:t>How to determine?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5FA29B-98B7-1C02-F0A7-088028653775}"/>
              </a:ext>
            </a:extLst>
          </p:cNvPr>
          <p:cNvCxnSpPr>
            <a:cxnSpLocks/>
          </p:cNvCxnSpPr>
          <p:nvPr/>
        </p:nvCxnSpPr>
        <p:spPr>
          <a:xfrm flipH="1" flipV="1">
            <a:off x="9867900" y="1708153"/>
            <a:ext cx="690683" cy="960842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FE8163-54AA-41B6-BC71-8F86E052FFC3}"/>
              </a:ext>
            </a:extLst>
          </p:cNvPr>
          <p:cNvCxnSpPr>
            <a:cxnSpLocks/>
          </p:cNvCxnSpPr>
          <p:nvPr/>
        </p:nvCxnSpPr>
        <p:spPr>
          <a:xfrm flipV="1">
            <a:off x="5993027" y="1678193"/>
            <a:ext cx="1160808" cy="819274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5FDB932-815D-A2F1-D65D-50B0507454BB}"/>
              </a:ext>
            </a:extLst>
          </p:cNvPr>
          <p:cNvSpPr txBox="1"/>
          <p:nvPr/>
        </p:nvSpPr>
        <p:spPr>
          <a:xfrm>
            <a:off x="1923038" y="2361049"/>
            <a:ext cx="43970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classical electron-electron repulsion, </a:t>
            </a:r>
            <a:r>
              <a:rPr lang="en-GB" sz="2400" dirty="0">
                <a:solidFill>
                  <a:srgbClr val="FF0000"/>
                </a:solidFill>
              </a:rPr>
              <a:t>introduces SIE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807871-9C13-6B5F-5C39-CB5F1D6C2008}"/>
              </a:ext>
            </a:extLst>
          </p:cNvPr>
          <p:cNvSpPr txBox="1"/>
          <p:nvPr/>
        </p:nvSpPr>
        <p:spPr>
          <a:xfrm>
            <a:off x="75558" y="5180229"/>
            <a:ext cx="11683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Pure DFT is an exact theory without two-electron integrals!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Classical repulsion (</a:t>
            </a:r>
            <a:r>
              <a:rPr lang="en-GB" sz="2400" i="1" dirty="0"/>
              <a:t>E</a:t>
            </a:r>
            <a:r>
              <a:rPr lang="en-GB" sz="2400" baseline="-25000" dirty="0"/>
              <a:t>H</a:t>
            </a:r>
            <a:r>
              <a:rPr lang="en-GB" sz="2400" dirty="0"/>
              <a:t>) </a:t>
            </a:r>
            <a:r>
              <a:rPr lang="en-GB" sz="2400" dirty="0">
                <a:solidFill>
                  <a:srgbClr val="FF0000"/>
                </a:solidFill>
              </a:rPr>
              <a:t>causes too much delocalisation (self-interaction error, SIE).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5E0A87-B592-29D2-B0D7-38CC3569BC45}"/>
              </a:ext>
            </a:extLst>
          </p:cNvPr>
          <p:cNvSpPr/>
          <p:nvPr/>
        </p:nvSpPr>
        <p:spPr>
          <a:xfrm>
            <a:off x="7250401" y="963827"/>
            <a:ext cx="1040984" cy="6054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2E71C0-5F48-5426-BECA-D15AF84829EA}"/>
              </a:ext>
            </a:extLst>
          </p:cNvPr>
          <p:cNvSpPr/>
          <p:nvPr/>
        </p:nvSpPr>
        <p:spPr>
          <a:xfrm>
            <a:off x="8663117" y="963827"/>
            <a:ext cx="1319081" cy="6054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8952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012EE-0F42-A56A-E2AC-E39F511DD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D19CBDF-0420-DAF6-53D8-A49271772D12}"/>
              </a:ext>
            </a:extLst>
          </p:cNvPr>
          <p:cNvSpPr txBox="1"/>
          <p:nvPr/>
        </p:nvSpPr>
        <p:spPr>
          <a:xfrm>
            <a:off x="355884" y="4327735"/>
            <a:ext cx="9022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where                            is some parametrised function of the density. </a:t>
            </a:r>
            <a:r>
              <a:rPr lang="en-GB" sz="28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86AD60-910C-F87B-158F-14BA73798D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155" r="12930"/>
          <a:stretch>
            <a:fillRect/>
          </a:stretch>
        </p:blipFill>
        <p:spPr>
          <a:xfrm>
            <a:off x="1378161" y="4168590"/>
            <a:ext cx="1433384" cy="8642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CEEC6B5-D1FD-6383-9002-9F3A4A44B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8" y="477442"/>
            <a:ext cx="7772400" cy="1554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366F5F-5E61-4D21-D345-0B4409E32402}"/>
              </a:ext>
            </a:extLst>
          </p:cNvPr>
          <p:cNvSpPr txBox="1"/>
          <p:nvPr/>
        </p:nvSpPr>
        <p:spPr>
          <a:xfrm>
            <a:off x="4063711" y="11897"/>
            <a:ext cx="4064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Density functional theory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CCB119-4A96-9C33-E868-63DB1A504D72}"/>
              </a:ext>
            </a:extLst>
          </p:cNvPr>
          <p:cNvSpPr txBox="1"/>
          <p:nvPr/>
        </p:nvSpPr>
        <p:spPr>
          <a:xfrm>
            <a:off x="9162122" y="2647137"/>
            <a:ext cx="30298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exchange and correlation</a:t>
            </a:r>
          </a:p>
          <a:p>
            <a:pPr algn="ctr"/>
            <a:r>
              <a:rPr lang="en-GB" sz="2400" dirty="0">
                <a:solidFill>
                  <a:srgbClr val="FF0000"/>
                </a:solidFill>
              </a:rPr>
              <a:t>How to determine?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F4496D-4D28-373B-8E06-A41550C0C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85" y="2422191"/>
            <a:ext cx="7772400" cy="10113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40FAA4-6DB4-17C0-0B18-DAD15D19FF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85" y="1852569"/>
            <a:ext cx="2536313" cy="5553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386FC0-4DC2-6186-5E9B-047193371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85" y="3445085"/>
            <a:ext cx="4105361" cy="8642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138A71-7A75-1B04-3128-9921C7B70B2B}"/>
              </a:ext>
            </a:extLst>
          </p:cNvPr>
          <p:cNvSpPr txBox="1"/>
          <p:nvPr/>
        </p:nvSpPr>
        <p:spPr>
          <a:xfrm>
            <a:off x="75558" y="5180229"/>
            <a:ext cx="1168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Pure DFT is an exact theory without two-electron integrals!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Exchange &amp; correlation (</a:t>
            </a:r>
            <a:r>
              <a:rPr lang="en-GB" sz="2400" i="1" dirty="0"/>
              <a:t>E</a:t>
            </a:r>
            <a:r>
              <a:rPr lang="en-GB" sz="2400" baseline="-25000" dirty="0"/>
              <a:t>XC</a:t>
            </a:r>
            <a:r>
              <a:rPr lang="en-GB" sz="2400" dirty="0"/>
              <a:t>): should fix everything, </a:t>
            </a:r>
            <a:r>
              <a:rPr lang="en-GB" sz="2400" dirty="0">
                <a:solidFill>
                  <a:srgbClr val="FF0000"/>
                </a:solidFill>
              </a:rPr>
              <a:t>but we don’t know what looks like.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We can make guesses,  </a:t>
            </a:r>
            <a:r>
              <a:rPr lang="en-GB" sz="2400" i="1" dirty="0"/>
              <a:t>E</a:t>
            </a:r>
            <a:r>
              <a:rPr lang="en-GB" sz="2400" baseline="-25000" dirty="0"/>
              <a:t>XC</a:t>
            </a:r>
            <a:r>
              <a:rPr lang="en-GB" sz="2400" dirty="0"/>
              <a:t> needs to </a:t>
            </a:r>
            <a:r>
              <a:rPr lang="en-GB" sz="2400" dirty="0">
                <a:solidFill>
                  <a:srgbClr val="00B050"/>
                </a:solidFill>
              </a:rPr>
              <a:t>cancel self-interaction introduced by </a:t>
            </a:r>
            <a:r>
              <a:rPr lang="en-GB" sz="2400" i="1" dirty="0">
                <a:solidFill>
                  <a:srgbClr val="00B050"/>
                </a:solidFill>
              </a:rPr>
              <a:t>E</a:t>
            </a:r>
            <a:r>
              <a:rPr lang="en-GB" sz="2400" baseline="-25000" dirty="0">
                <a:solidFill>
                  <a:srgbClr val="00B050"/>
                </a:solidFill>
              </a:rPr>
              <a:t>H</a:t>
            </a:r>
          </a:p>
          <a:p>
            <a:r>
              <a:rPr lang="en-GB" sz="2400" dirty="0"/>
              <a:t>			                                      </a:t>
            </a:r>
            <a:r>
              <a:rPr lang="en-GB" sz="2400" dirty="0">
                <a:solidFill>
                  <a:srgbClr val="00B050"/>
                </a:solidFill>
              </a:rPr>
              <a:t>account for the exchange hole, </a:t>
            </a:r>
            <a:r>
              <a:rPr lang="en-GB" sz="2400" i="1" dirty="0">
                <a:solidFill>
                  <a:srgbClr val="00B050"/>
                </a:solidFill>
              </a:rPr>
              <a:t>E</a:t>
            </a:r>
            <a:r>
              <a:rPr lang="en-GB" sz="2400" baseline="-25000" dirty="0">
                <a:solidFill>
                  <a:srgbClr val="00B050"/>
                </a:solidFill>
              </a:rPr>
              <a:t>kin</a:t>
            </a:r>
            <a:r>
              <a:rPr lang="en-GB" sz="2400" dirty="0">
                <a:solidFill>
                  <a:srgbClr val="00B050"/>
                </a:solidFill>
              </a:rPr>
              <a:t>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6537C6-9BE7-88DC-669E-CDACAC9E1B2F}"/>
              </a:ext>
            </a:extLst>
          </p:cNvPr>
          <p:cNvSpPr/>
          <p:nvPr/>
        </p:nvSpPr>
        <p:spPr>
          <a:xfrm>
            <a:off x="8663117" y="963827"/>
            <a:ext cx="1319081" cy="6054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9D6118-5F90-4A08-FD53-B328DD133AC3}"/>
              </a:ext>
            </a:extLst>
          </p:cNvPr>
          <p:cNvCxnSpPr>
            <a:cxnSpLocks/>
          </p:cNvCxnSpPr>
          <p:nvPr/>
        </p:nvCxnSpPr>
        <p:spPr>
          <a:xfrm flipH="1" flipV="1">
            <a:off x="9867900" y="1708153"/>
            <a:ext cx="690683" cy="960842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29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9E767-1358-ECAD-5ED6-7A2B32E0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18C0C3-AC67-2AB6-FC2D-161867912149}"/>
              </a:ext>
            </a:extLst>
          </p:cNvPr>
          <p:cNvSpPr txBox="1"/>
          <p:nvPr/>
        </p:nvSpPr>
        <p:spPr>
          <a:xfrm>
            <a:off x="4063711" y="11897"/>
            <a:ext cx="4064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Density functional theory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B4EA85-7515-9937-31C8-3D7A5454B359}"/>
              </a:ext>
            </a:extLst>
          </p:cNvPr>
          <p:cNvSpPr txBox="1"/>
          <p:nvPr/>
        </p:nvSpPr>
        <p:spPr>
          <a:xfrm>
            <a:off x="139855" y="1029126"/>
            <a:ext cx="12052145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b="1" dirty="0"/>
              <a:t>1926</a:t>
            </a:r>
            <a:r>
              <a:rPr lang="en-GB" sz="2400" dirty="0"/>
              <a:t> Schrödinger equation</a:t>
            </a:r>
          </a:p>
          <a:p>
            <a:pPr>
              <a:spcAft>
                <a:spcPts val="600"/>
              </a:spcAft>
            </a:pPr>
            <a:r>
              <a:rPr lang="en-GB" sz="2400" b="1" dirty="0"/>
              <a:t>1927</a:t>
            </a:r>
            <a:r>
              <a:rPr lang="en-GB" sz="2400" dirty="0"/>
              <a:t> Hartree’s “self-consistent field” (SCF) method</a:t>
            </a:r>
          </a:p>
          <a:p>
            <a:pPr>
              <a:spcAft>
                <a:spcPts val="600"/>
              </a:spcAft>
            </a:pPr>
            <a:r>
              <a:rPr lang="en-GB" sz="2400" b="1" dirty="0"/>
              <a:t>1930</a:t>
            </a:r>
            <a:r>
              <a:rPr lang="en-GB" sz="2400" dirty="0"/>
              <a:t> Fock points out that Hartree’s wavefunction does not obey exchange symmetry</a:t>
            </a:r>
          </a:p>
          <a:p>
            <a:pPr>
              <a:spcAft>
                <a:spcPts val="600"/>
              </a:spcAft>
            </a:pPr>
            <a:r>
              <a:rPr lang="en-GB" sz="2400" b="1" dirty="0"/>
              <a:t>1935</a:t>
            </a:r>
            <a:r>
              <a:rPr lang="en-GB" sz="2400" dirty="0"/>
              <a:t> “Self-consistent field, with exchange”, birth of the modern Hartree-Fock (HF) method</a:t>
            </a:r>
          </a:p>
          <a:p>
            <a:pPr>
              <a:spcAft>
                <a:spcPts val="600"/>
              </a:spcAft>
            </a:pPr>
            <a:r>
              <a:rPr lang="en-GB" sz="2400" b="1" dirty="0"/>
              <a:t>1950s</a:t>
            </a:r>
            <a:r>
              <a:rPr lang="en-GB" sz="2400" dirty="0"/>
              <a:t> Computers become strong enough to calculate small molecules</a:t>
            </a:r>
          </a:p>
          <a:p>
            <a:pPr>
              <a:spcAft>
                <a:spcPts val="600"/>
              </a:spcAft>
            </a:pPr>
            <a:r>
              <a:rPr lang="en-GB" sz="2400" b="1" dirty="0"/>
              <a:t>1950s + </a:t>
            </a:r>
            <a:r>
              <a:rPr lang="en-GB" sz="2400" b="1" dirty="0" err="1"/>
              <a:t>δ</a:t>
            </a:r>
            <a:r>
              <a:rPr lang="en-GB" sz="2400" dirty="0"/>
              <a:t> Computational physicists and chemists realise that HF has poor accuracy</a:t>
            </a:r>
          </a:p>
          <a:p>
            <a:pPr>
              <a:spcAft>
                <a:spcPts val="600"/>
              </a:spcAft>
            </a:pPr>
            <a:r>
              <a:rPr lang="en-GB" sz="2400" b="1" dirty="0"/>
              <a:t>1964</a:t>
            </a:r>
            <a:r>
              <a:rPr lang="en-GB" sz="2400" dirty="0"/>
              <a:t> Hohenberg-Kohn theorems: </a:t>
            </a:r>
          </a:p>
          <a:p>
            <a:pPr>
              <a:spcAft>
                <a:spcPts val="600"/>
              </a:spcAft>
            </a:pPr>
            <a:r>
              <a:rPr lang="en-GB" sz="2400" dirty="0"/>
              <a:t>	1. The ground state of a system is completely determined by its density.</a:t>
            </a:r>
          </a:p>
          <a:p>
            <a:pPr>
              <a:spcAft>
                <a:spcPts val="600"/>
              </a:spcAft>
            </a:pPr>
            <a:r>
              <a:rPr lang="en-GB" sz="2400" dirty="0"/>
              <a:t>	2. The exact ground-state density minimises the total energy. </a:t>
            </a:r>
          </a:p>
          <a:p>
            <a:pPr>
              <a:spcAft>
                <a:spcPts val="600"/>
              </a:spcAft>
            </a:pPr>
            <a:r>
              <a:rPr lang="en-GB" sz="2400" dirty="0">
                <a:solidFill>
                  <a:srgbClr val="FF0000"/>
                </a:solidFill>
              </a:rPr>
              <a:t>1965 Walter Kohn’s local density approximation (LDA)</a:t>
            </a:r>
          </a:p>
          <a:p>
            <a:pPr>
              <a:spcAft>
                <a:spcPts val="600"/>
              </a:spcAft>
            </a:pPr>
            <a:r>
              <a:rPr lang="en-GB" sz="2400" dirty="0">
                <a:solidFill>
                  <a:srgbClr val="FF0000"/>
                </a:solidFill>
              </a:rPr>
              <a:t>1970s–1980s development of various GGA methods</a:t>
            </a:r>
          </a:p>
          <a:p>
            <a:pPr>
              <a:spcAft>
                <a:spcPts val="600"/>
              </a:spcAft>
            </a:pPr>
            <a:r>
              <a:rPr lang="en-GB" sz="2400" dirty="0">
                <a:solidFill>
                  <a:srgbClr val="FF0000"/>
                </a:solidFill>
              </a:rPr>
              <a:t>1994 PBE functional (Perdew, Burke, </a:t>
            </a:r>
            <a:r>
              <a:rPr lang="en-GB" sz="2400" dirty="0" err="1">
                <a:solidFill>
                  <a:srgbClr val="FF0000"/>
                </a:solidFill>
              </a:rPr>
              <a:t>Ernzerhof</a:t>
            </a:r>
            <a:r>
              <a:rPr lang="en-GB" sz="2400" dirty="0">
                <a:solidFill>
                  <a:srgbClr val="FF0000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GB" sz="2400" dirty="0">
                <a:solidFill>
                  <a:srgbClr val="FF0000"/>
                </a:solidFill>
              </a:rPr>
              <a:t>1994 B3LYP hybrid functional (Becke, Lee, Yang, Parr)</a:t>
            </a:r>
          </a:p>
        </p:txBody>
      </p:sp>
    </p:spTree>
    <p:extLst>
      <p:ext uri="{BB962C8B-B14F-4D97-AF65-F5344CB8AC3E}">
        <p14:creationId xmlns:p14="http://schemas.microsoft.com/office/powerpoint/2010/main" val="71639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5A5966A-F1B1-A6E7-5BDC-B3489E54B759}"/>
              </a:ext>
            </a:extLst>
          </p:cNvPr>
          <p:cNvGrpSpPr/>
          <p:nvPr/>
        </p:nvGrpSpPr>
        <p:grpSpPr>
          <a:xfrm>
            <a:off x="4573397" y="865055"/>
            <a:ext cx="3065334" cy="5686134"/>
            <a:chOff x="4701617" y="1144011"/>
            <a:chExt cx="2788766" cy="517310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CC7E2C05-65ED-B156-F7D0-B59E24073CE5}"/>
                </a:ext>
              </a:extLst>
            </p:cNvPr>
            <p:cNvSpPr/>
            <p:nvPr/>
          </p:nvSpPr>
          <p:spPr>
            <a:xfrm>
              <a:off x="4701617" y="5543274"/>
              <a:ext cx="2788766" cy="773842"/>
            </a:xfrm>
            <a:prstGeom prst="roundRect">
              <a:avLst/>
            </a:prstGeom>
            <a:solidFill>
              <a:srgbClr val="FFB3B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>
                  <a:solidFill>
                    <a:schemeClr val="tx1"/>
                  </a:solidFill>
                  <a:latin typeface="Aptos" panose="020B0004020202020204" pitchFamily="34" charset="0"/>
                  <a:cs typeface="Arial" panose="020B0604020202020204" pitchFamily="34" charset="0"/>
                </a:rPr>
                <a:t>Hartree “Earth”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ounded Rectangle 4">
                  <a:extLst>
                    <a:ext uri="{FF2B5EF4-FFF2-40B4-BE49-F238E27FC236}">
                      <a16:creationId xmlns:a16="http://schemas.microsoft.com/office/drawing/2014/main" id="{5CC70FE6-F293-CD9F-588A-EE39F4BED9D3}"/>
                    </a:ext>
                  </a:extLst>
                </p:cNvPr>
                <p:cNvSpPr/>
                <p:nvPr/>
              </p:nvSpPr>
              <p:spPr>
                <a:xfrm>
                  <a:off x="4701617" y="4666974"/>
                  <a:ext cx="2788766" cy="773842"/>
                </a:xfrm>
                <a:prstGeom prst="roundRect">
                  <a:avLst/>
                </a:prstGeom>
                <a:solidFill>
                  <a:srgbClr val="FFDFBA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000" dirty="0">
                      <a:solidFill>
                        <a:schemeClr val="tx1"/>
                      </a:solidFill>
                      <a:latin typeface="Aptos" panose="020B0004020202020204" pitchFamily="34" charset="0"/>
                      <a:cs typeface="Arial" panose="020B0604020202020204" pitchFamily="34" charset="0"/>
                    </a:rPr>
                    <a:t>LDA: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XC</m:t>
                          </m:r>
                        </m:sub>
                      </m:sSub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endParaRPr lang="en-GB" sz="2000" dirty="0">
                    <a:solidFill>
                      <a:schemeClr val="tx1"/>
                    </a:solidFill>
                    <a:latin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" name="Rounded Rectangle 4">
                  <a:extLst>
                    <a:ext uri="{FF2B5EF4-FFF2-40B4-BE49-F238E27FC236}">
                      <a16:creationId xmlns:a16="http://schemas.microsoft.com/office/drawing/2014/main" id="{5CC70FE6-F293-CD9F-588A-EE39F4BED9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617" y="4666974"/>
                  <a:ext cx="2788766" cy="773842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ounded Rectangle 5">
                  <a:extLst>
                    <a:ext uri="{FF2B5EF4-FFF2-40B4-BE49-F238E27FC236}">
                      <a16:creationId xmlns:a16="http://schemas.microsoft.com/office/drawing/2014/main" id="{8DDDB55B-3DA6-E6BD-0BF7-ED03E3158C52}"/>
                    </a:ext>
                  </a:extLst>
                </p:cNvPr>
                <p:cNvSpPr/>
                <p:nvPr/>
              </p:nvSpPr>
              <p:spPr>
                <a:xfrm>
                  <a:off x="4701617" y="3790674"/>
                  <a:ext cx="2788766" cy="773842"/>
                </a:xfrm>
                <a:prstGeom prst="roundRect">
                  <a:avLst/>
                </a:prstGeom>
                <a:solidFill>
                  <a:srgbClr val="FFFFBA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000" b="1" dirty="0">
                      <a:solidFill>
                        <a:schemeClr val="tx1"/>
                      </a:solidFill>
                      <a:latin typeface="Aptos" panose="020B0004020202020204" pitchFamily="34" charset="0"/>
                      <a:cs typeface="Arial" panose="020B0604020202020204" pitchFamily="34" charset="0"/>
                    </a:rPr>
                    <a:t>GGA: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en-GB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𝑿𝑪</m:t>
                          </m:r>
                        </m:sub>
                      </m:sSub>
                      <m:r>
                        <a:rPr lang="en-GB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𝝆</m:t>
                      </m:r>
                      <m:r>
                        <a:rPr lang="en-GB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𝜵𝝆</m:t>
                      </m:r>
                      <m:r>
                        <a:rPr lang="en-GB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endParaRPr lang="en-GB" sz="2000" b="1" dirty="0">
                    <a:solidFill>
                      <a:schemeClr val="tx1"/>
                    </a:solidFill>
                    <a:latin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" name="Rounded Rectangle 5">
                  <a:extLst>
                    <a:ext uri="{FF2B5EF4-FFF2-40B4-BE49-F238E27FC236}">
                      <a16:creationId xmlns:a16="http://schemas.microsoft.com/office/drawing/2014/main" id="{8DDDB55B-3DA6-E6BD-0BF7-ED03E3158C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617" y="3790674"/>
                  <a:ext cx="2788766" cy="773842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ounded Rectangle 6">
                  <a:extLst>
                    <a:ext uri="{FF2B5EF4-FFF2-40B4-BE49-F238E27FC236}">
                      <a16:creationId xmlns:a16="http://schemas.microsoft.com/office/drawing/2014/main" id="{24A7D887-846A-5417-7C56-6B8539F5EEF6}"/>
                    </a:ext>
                  </a:extLst>
                </p:cNvPr>
                <p:cNvSpPr/>
                <p:nvPr/>
              </p:nvSpPr>
              <p:spPr>
                <a:xfrm>
                  <a:off x="4701617" y="2908453"/>
                  <a:ext cx="2788766" cy="773842"/>
                </a:xfrm>
                <a:prstGeom prst="roundRect">
                  <a:avLst/>
                </a:prstGeom>
                <a:solidFill>
                  <a:srgbClr val="BAFFC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000" dirty="0">
                      <a:solidFill>
                        <a:schemeClr val="tx1"/>
                      </a:solidFill>
                      <a:latin typeface="Aptos" panose="020B0004020202020204" pitchFamily="34" charset="0"/>
                      <a:cs typeface="Arial" panose="020B0604020202020204" pitchFamily="34" charset="0"/>
                    </a:rPr>
                    <a:t>hybrids: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XC</m:t>
                          </m:r>
                        </m:sub>
                      </m:sSub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GB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occ</m:t>
                          </m:r>
                        </m:sub>
                      </m:sSub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endParaRPr lang="en-GB" sz="2000" dirty="0">
                    <a:solidFill>
                      <a:schemeClr val="tx1"/>
                    </a:solidFill>
                    <a:latin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" name="Rounded Rectangle 6">
                  <a:extLst>
                    <a:ext uri="{FF2B5EF4-FFF2-40B4-BE49-F238E27FC236}">
                      <a16:creationId xmlns:a16="http://schemas.microsoft.com/office/drawing/2014/main" id="{24A7D887-846A-5417-7C56-6B8539F5EE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617" y="2908453"/>
                  <a:ext cx="2788766" cy="77384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ounded Rectangle 7">
                  <a:extLst>
                    <a:ext uri="{FF2B5EF4-FFF2-40B4-BE49-F238E27FC236}">
                      <a16:creationId xmlns:a16="http://schemas.microsoft.com/office/drawing/2014/main" id="{FEBA98FC-6583-E02D-E0B3-9B751F132737}"/>
                    </a:ext>
                  </a:extLst>
                </p:cNvPr>
                <p:cNvSpPr/>
                <p:nvPr/>
              </p:nvSpPr>
              <p:spPr>
                <a:xfrm>
                  <a:off x="4701617" y="2026232"/>
                  <a:ext cx="2788766" cy="773842"/>
                </a:xfrm>
                <a:prstGeom prst="roundRect">
                  <a:avLst/>
                </a:prstGeom>
                <a:solidFill>
                  <a:srgbClr val="BA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000" dirty="0">
                      <a:solidFill>
                        <a:schemeClr val="tx1"/>
                      </a:solidFill>
                      <a:latin typeface="Aptos" panose="020B0004020202020204" pitchFamily="34" charset="0"/>
                      <a:cs typeface="Arial" panose="020B0604020202020204" pitchFamily="34" charset="0"/>
                    </a:rPr>
                    <a:t>double hybrids: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XC</m:t>
                          </m:r>
                        </m:sub>
                      </m:sSub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GB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occ</m:t>
                          </m:r>
                        </m:sub>
                      </m:sSub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virt</m:t>
                          </m:r>
                        </m:sub>
                      </m:sSub>
                      <m:r>
                        <a:rPr lang="en-GB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endParaRPr lang="en-GB" sz="2000" dirty="0">
                    <a:solidFill>
                      <a:schemeClr val="tx1"/>
                    </a:solidFill>
                    <a:latin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" name="Rounded Rectangle 7">
                  <a:extLst>
                    <a:ext uri="{FF2B5EF4-FFF2-40B4-BE49-F238E27FC236}">
                      <a16:creationId xmlns:a16="http://schemas.microsoft.com/office/drawing/2014/main" id="{FEBA98FC-6583-E02D-E0B3-9B751F1327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617" y="2026232"/>
                  <a:ext cx="2788766" cy="773842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E41A521B-71A2-1EBC-61DC-606621B3B95B}"/>
                </a:ext>
              </a:extLst>
            </p:cNvPr>
            <p:cNvSpPr/>
            <p:nvPr/>
          </p:nvSpPr>
          <p:spPr>
            <a:xfrm>
              <a:off x="4701617" y="1144011"/>
              <a:ext cx="2788766" cy="773842"/>
            </a:xfrm>
            <a:prstGeom prst="roundRect">
              <a:avLst/>
            </a:prstGeom>
            <a:solidFill>
              <a:srgbClr val="BAE1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>
                  <a:solidFill>
                    <a:schemeClr val="tx1"/>
                  </a:solidFill>
                  <a:latin typeface="Aptos" panose="020B0004020202020204" pitchFamily="34" charset="0"/>
                  <a:cs typeface="Arial" panose="020B0604020202020204" pitchFamily="34" charset="0"/>
                </a:rPr>
                <a:t>“Heaven” of exact accuracy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622B3FE-4396-D562-CF88-E76D19C684E5}"/>
              </a:ext>
            </a:extLst>
          </p:cNvPr>
          <p:cNvSpPr txBox="1"/>
          <p:nvPr/>
        </p:nvSpPr>
        <p:spPr>
          <a:xfrm>
            <a:off x="4459077" y="0"/>
            <a:ext cx="3273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Aptos" panose="020B0004020202020204" pitchFamily="34" charset="0"/>
              </a:rPr>
              <a:t>Types of functionals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8673A62E-8341-A161-B45F-FB47E85E879D}"/>
              </a:ext>
            </a:extLst>
          </p:cNvPr>
          <p:cNvSpPr/>
          <p:nvPr/>
        </p:nvSpPr>
        <p:spPr>
          <a:xfrm>
            <a:off x="7664062" y="3774194"/>
            <a:ext cx="375324" cy="1813791"/>
          </a:xfrm>
          <a:prstGeom prst="rightBrac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8302C0-3ED1-A2F4-B1D2-91A74C4A7F2D}"/>
              </a:ext>
            </a:extLst>
          </p:cNvPr>
          <p:cNvSpPr txBox="1"/>
          <p:nvPr/>
        </p:nvSpPr>
        <p:spPr>
          <a:xfrm>
            <a:off x="99285" y="4199487"/>
            <a:ext cx="40734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800" b="1" dirty="0">
                <a:latin typeface="Aptos" panose="020B0004020202020204" pitchFamily="34" charset="0"/>
              </a:rPr>
              <a:t>Pure DFT</a:t>
            </a:r>
          </a:p>
          <a:p>
            <a:pPr algn="r"/>
            <a:r>
              <a:rPr lang="en-GB" sz="1800" i="1" dirty="0">
                <a:latin typeface="Aptos" panose="020B0004020202020204" pitchFamily="34" charset="0"/>
              </a:rPr>
              <a:t>E</a:t>
            </a:r>
            <a:r>
              <a:rPr lang="en-GB" sz="1800" baseline="-25000" dirty="0">
                <a:latin typeface="Aptos" panose="020B0004020202020204" pitchFamily="34" charset="0"/>
              </a:rPr>
              <a:t>XC</a:t>
            </a:r>
            <a:r>
              <a:rPr lang="en-GB" sz="1800" dirty="0">
                <a:latin typeface="Aptos" panose="020B0004020202020204" pitchFamily="34" charset="0"/>
              </a:rPr>
              <a:t> fully determined by density (LDA) and its gradient (GGA)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5ABA79-3D3C-7EB1-0A66-8B9303864C44}"/>
              </a:ext>
            </a:extLst>
          </p:cNvPr>
          <p:cNvSpPr txBox="1"/>
          <p:nvPr/>
        </p:nvSpPr>
        <p:spPr>
          <a:xfrm>
            <a:off x="261616" y="2624512"/>
            <a:ext cx="39111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800" b="1" dirty="0">
                <a:latin typeface="Aptos" panose="020B0004020202020204" pitchFamily="34" charset="0"/>
              </a:rPr>
              <a:t>Hybrid DFT</a:t>
            </a:r>
          </a:p>
          <a:p>
            <a:pPr algn="r"/>
            <a:r>
              <a:rPr lang="en-GB" dirty="0">
                <a:latin typeface="Aptos" panose="020B0004020202020204" pitchFamily="34" charset="0"/>
              </a:rPr>
              <a:t>Mixes in HF exchange, reintroducing 2e-integrals over occupied orbitals: </a:t>
            </a:r>
            <a:br>
              <a:rPr lang="en-GB" dirty="0">
                <a:latin typeface="Aptos" panose="020B0004020202020204" pitchFamily="34" charset="0"/>
              </a:rPr>
            </a:br>
            <a:r>
              <a:rPr lang="en-GB" i="1" dirty="0">
                <a:latin typeface="Aptos" panose="020B0004020202020204" pitchFamily="34" charset="0"/>
              </a:rPr>
              <a:t>E</a:t>
            </a:r>
            <a:r>
              <a:rPr lang="en-GB" baseline="-25000" dirty="0">
                <a:latin typeface="Aptos" panose="020B0004020202020204" pitchFamily="34" charset="0"/>
              </a:rPr>
              <a:t>XC</a:t>
            </a:r>
            <a:r>
              <a:rPr lang="en-GB" dirty="0">
                <a:latin typeface="Aptos" panose="020B0004020202020204" pitchFamily="34" charset="0"/>
              </a:rPr>
              <a:t> = </a:t>
            </a:r>
            <a:r>
              <a:rPr lang="en-GB" i="1" dirty="0">
                <a:latin typeface="Aptos" panose="020B0004020202020204" pitchFamily="34" charset="0"/>
              </a:rPr>
              <a:t>a</a:t>
            </a:r>
            <a:r>
              <a:rPr lang="en-GB" dirty="0">
                <a:latin typeface="Aptos" panose="020B0004020202020204" pitchFamily="34" charset="0"/>
              </a:rPr>
              <a:t> </a:t>
            </a:r>
            <a:r>
              <a:rPr lang="en-GB" i="1" dirty="0">
                <a:latin typeface="Aptos" panose="020B0004020202020204" pitchFamily="34" charset="0"/>
              </a:rPr>
              <a:t>E</a:t>
            </a:r>
            <a:r>
              <a:rPr lang="en-GB" baseline="-25000" dirty="0">
                <a:latin typeface="Aptos" panose="020B0004020202020204" pitchFamily="34" charset="0"/>
              </a:rPr>
              <a:t>X,HF</a:t>
            </a:r>
            <a:r>
              <a:rPr lang="en-GB" dirty="0">
                <a:latin typeface="Aptos" panose="020B0004020202020204" pitchFamily="34" charset="0"/>
              </a:rPr>
              <a:t> + </a:t>
            </a:r>
            <a:r>
              <a:rPr lang="en-GB" i="1" dirty="0">
                <a:latin typeface="Aptos" panose="020B0004020202020204" pitchFamily="34" charset="0"/>
              </a:rPr>
              <a:t>b</a:t>
            </a:r>
            <a:r>
              <a:rPr lang="en-GB" dirty="0">
                <a:latin typeface="Aptos" panose="020B0004020202020204" pitchFamily="34" charset="0"/>
              </a:rPr>
              <a:t> </a:t>
            </a:r>
            <a:r>
              <a:rPr lang="en-GB" i="1" dirty="0">
                <a:latin typeface="Aptos" panose="020B0004020202020204" pitchFamily="34" charset="0"/>
              </a:rPr>
              <a:t>E</a:t>
            </a:r>
            <a:r>
              <a:rPr lang="en-GB" baseline="-25000" dirty="0">
                <a:latin typeface="Aptos" panose="020B0004020202020204" pitchFamily="34" charset="0"/>
              </a:rPr>
              <a:t>X,DFT</a:t>
            </a:r>
            <a:r>
              <a:rPr lang="en-GB" dirty="0">
                <a:latin typeface="Aptos" panose="020B0004020202020204" pitchFamily="34" charset="0"/>
              </a:rPr>
              <a:t> +</a:t>
            </a:r>
            <a:r>
              <a:rPr lang="en-GB" i="1" dirty="0">
                <a:latin typeface="Aptos" panose="020B0004020202020204" pitchFamily="34" charset="0"/>
              </a:rPr>
              <a:t> E</a:t>
            </a:r>
            <a:r>
              <a:rPr lang="en-GB" baseline="-25000" dirty="0">
                <a:latin typeface="Aptos" panose="020B0004020202020204" pitchFamily="34" charset="0"/>
              </a:rPr>
              <a:t>C,DFT</a:t>
            </a:r>
            <a:endParaRPr lang="en-GB" i="1" dirty="0">
              <a:latin typeface="Aptos" panose="020B0004020202020204" pitchFamily="34" charset="0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45A0F2E5-3FD2-2A98-2F70-472BA1EECCB9}"/>
              </a:ext>
            </a:extLst>
          </p:cNvPr>
          <p:cNvSpPr/>
          <p:nvPr/>
        </p:nvSpPr>
        <p:spPr>
          <a:xfrm flipH="1">
            <a:off x="4198073" y="2783448"/>
            <a:ext cx="375324" cy="882459"/>
          </a:xfrm>
          <a:prstGeom prst="rightBrace">
            <a:avLst>
              <a:gd name="adj1" fmla="val 8333"/>
              <a:gd name="adj2" fmla="val 5117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A742FB-1513-88AF-EAFF-FFB6737885C7}"/>
              </a:ext>
            </a:extLst>
          </p:cNvPr>
          <p:cNvSpPr txBox="1"/>
          <p:nvPr/>
        </p:nvSpPr>
        <p:spPr>
          <a:xfrm>
            <a:off x="8014055" y="1382898"/>
            <a:ext cx="40987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latin typeface="Aptos" panose="020B0004020202020204" pitchFamily="34" charset="0"/>
              </a:rPr>
              <a:t>Double hybrid DFT</a:t>
            </a:r>
          </a:p>
          <a:p>
            <a:r>
              <a:rPr lang="en-GB" dirty="0">
                <a:latin typeface="Aptos" panose="020B0004020202020204" pitchFamily="34" charset="0"/>
              </a:rPr>
              <a:t>Mixes in PT2 correlation exchange, introducing 2e-integrals over occupied and virtual orbitals: </a:t>
            </a:r>
            <a:br>
              <a:rPr lang="en-GB" dirty="0">
                <a:latin typeface="Aptos" panose="020B0004020202020204" pitchFamily="34" charset="0"/>
              </a:rPr>
            </a:br>
            <a:r>
              <a:rPr lang="en-GB" i="1" dirty="0">
                <a:latin typeface="Aptos" panose="020B0004020202020204" pitchFamily="34" charset="0"/>
              </a:rPr>
              <a:t>E</a:t>
            </a:r>
            <a:r>
              <a:rPr lang="en-GB" baseline="-25000" dirty="0">
                <a:latin typeface="Aptos" panose="020B0004020202020204" pitchFamily="34" charset="0"/>
              </a:rPr>
              <a:t>XC</a:t>
            </a:r>
            <a:r>
              <a:rPr lang="en-GB" dirty="0">
                <a:latin typeface="Aptos" panose="020B0004020202020204" pitchFamily="34" charset="0"/>
              </a:rPr>
              <a:t> = </a:t>
            </a:r>
            <a:r>
              <a:rPr lang="en-GB" i="1" dirty="0">
                <a:latin typeface="Aptos" panose="020B0004020202020204" pitchFamily="34" charset="0"/>
              </a:rPr>
              <a:t>a</a:t>
            </a:r>
            <a:r>
              <a:rPr lang="en-GB" dirty="0">
                <a:latin typeface="Aptos" panose="020B0004020202020204" pitchFamily="34" charset="0"/>
              </a:rPr>
              <a:t> </a:t>
            </a:r>
            <a:r>
              <a:rPr lang="en-GB" i="1" dirty="0">
                <a:latin typeface="Aptos" panose="020B0004020202020204" pitchFamily="34" charset="0"/>
              </a:rPr>
              <a:t>E</a:t>
            </a:r>
            <a:r>
              <a:rPr lang="en-GB" baseline="-25000" dirty="0">
                <a:latin typeface="Aptos" panose="020B0004020202020204" pitchFamily="34" charset="0"/>
              </a:rPr>
              <a:t>X,HF</a:t>
            </a:r>
            <a:r>
              <a:rPr lang="en-GB" dirty="0">
                <a:latin typeface="Aptos" panose="020B0004020202020204" pitchFamily="34" charset="0"/>
              </a:rPr>
              <a:t> + </a:t>
            </a:r>
            <a:r>
              <a:rPr lang="en-GB" i="1" dirty="0">
                <a:latin typeface="Aptos" panose="020B0004020202020204" pitchFamily="34" charset="0"/>
              </a:rPr>
              <a:t>b</a:t>
            </a:r>
            <a:r>
              <a:rPr lang="en-GB" dirty="0">
                <a:latin typeface="Aptos" panose="020B0004020202020204" pitchFamily="34" charset="0"/>
              </a:rPr>
              <a:t> </a:t>
            </a:r>
            <a:r>
              <a:rPr lang="en-GB" i="1" dirty="0">
                <a:latin typeface="Aptos" panose="020B0004020202020204" pitchFamily="34" charset="0"/>
              </a:rPr>
              <a:t>E</a:t>
            </a:r>
            <a:r>
              <a:rPr lang="en-GB" baseline="-25000" dirty="0">
                <a:latin typeface="Aptos" panose="020B0004020202020204" pitchFamily="34" charset="0"/>
              </a:rPr>
              <a:t>X,DFT</a:t>
            </a:r>
            <a:r>
              <a:rPr lang="en-GB" dirty="0">
                <a:latin typeface="Aptos" panose="020B0004020202020204" pitchFamily="34" charset="0"/>
              </a:rPr>
              <a:t> + </a:t>
            </a:r>
            <a:r>
              <a:rPr lang="en-GB" i="1" dirty="0">
                <a:latin typeface="Aptos" panose="020B0004020202020204" pitchFamily="34" charset="0"/>
              </a:rPr>
              <a:t>c E</a:t>
            </a:r>
            <a:r>
              <a:rPr lang="en-GB" baseline="-25000" dirty="0">
                <a:latin typeface="Aptos" panose="020B0004020202020204" pitchFamily="34" charset="0"/>
              </a:rPr>
              <a:t>C,DFT </a:t>
            </a:r>
            <a:r>
              <a:rPr lang="en-GB" dirty="0">
                <a:latin typeface="Aptos" panose="020B0004020202020204" pitchFamily="34" charset="0"/>
              </a:rPr>
              <a:t>+ </a:t>
            </a:r>
            <a:r>
              <a:rPr lang="en-GB" i="1" dirty="0">
                <a:latin typeface="Aptos" panose="020B0004020202020204" pitchFamily="34" charset="0"/>
              </a:rPr>
              <a:t>d E</a:t>
            </a:r>
            <a:r>
              <a:rPr lang="en-GB" baseline="-25000" dirty="0">
                <a:latin typeface="Aptos" panose="020B0004020202020204" pitchFamily="34" charset="0"/>
              </a:rPr>
              <a:t>C,PT2</a:t>
            </a: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C09A1607-4F7E-5A49-75D0-1AC722992853}"/>
              </a:ext>
            </a:extLst>
          </p:cNvPr>
          <p:cNvSpPr/>
          <p:nvPr/>
        </p:nvSpPr>
        <p:spPr>
          <a:xfrm>
            <a:off x="7638731" y="1823423"/>
            <a:ext cx="375324" cy="882459"/>
          </a:xfrm>
          <a:prstGeom prst="rightBrace">
            <a:avLst>
              <a:gd name="adj1" fmla="val 8333"/>
              <a:gd name="adj2" fmla="val 5117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D018D720-2525-0BCE-3F7B-82DBAE598280}"/>
              </a:ext>
            </a:extLst>
          </p:cNvPr>
          <p:cNvSpPr/>
          <p:nvPr/>
        </p:nvSpPr>
        <p:spPr>
          <a:xfrm flipH="1">
            <a:off x="4198073" y="3764001"/>
            <a:ext cx="375324" cy="1813791"/>
          </a:xfrm>
          <a:prstGeom prst="rightBrac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D9A3C8-1D90-1B69-4098-D6415E275E1A}"/>
              </a:ext>
            </a:extLst>
          </p:cNvPr>
          <p:cNvSpPr txBox="1"/>
          <p:nvPr/>
        </p:nvSpPr>
        <p:spPr>
          <a:xfrm>
            <a:off x="8064717" y="4199487"/>
            <a:ext cx="33779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principle:</a:t>
            </a:r>
          </a:p>
          <a:p>
            <a:pPr marL="342900" indent="-342900">
              <a:buAutoNum type="arabicPeriod"/>
            </a:pPr>
            <a:r>
              <a:rPr lang="en-GB" dirty="0"/>
              <a:t>Choose some basis</a:t>
            </a:r>
          </a:p>
          <a:p>
            <a:pPr marL="342900" indent="-342900">
              <a:buAutoNum type="arabicPeriod"/>
            </a:pPr>
            <a:r>
              <a:rPr lang="en-GB" dirty="0"/>
              <a:t>Vary </a:t>
            </a:r>
            <a:r>
              <a:rPr lang="en-GB" i="1" dirty="0">
                <a:latin typeface="Symbol" pitchFamily="2" charset="2"/>
              </a:rPr>
              <a:t>r</a:t>
            </a:r>
            <a:r>
              <a:rPr lang="en-GB" dirty="0"/>
              <a:t> until </a:t>
            </a:r>
            <a:r>
              <a:rPr lang="en-GB" i="1" dirty="0" err="1"/>
              <a:t>E</a:t>
            </a:r>
            <a:r>
              <a:rPr lang="en-GB" baseline="-25000" dirty="0" err="1"/>
              <a:t>tot</a:t>
            </a:r>
            <a:r>
              <a:rPr lang="en-GB" dirty="0"/>
              <a:t> is minimised</a:t>
            </a:r>
          </a:p>
        </p:txBody>
      </p:sp>
    </p:spTree>
    <p:extLst>
      <p:ext uri="{BB962C8B-B14F-4D97-AF65-F5344CB8AC3E}">
        <p14:creationId xmlns:p14="http://schemas.microsoft.com/office/powerpoint/2010/main" val="2663746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18" grpId="0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055DF-5177-D936-B107-1303B3908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582D0D-C30A-A0CF-DDD9-C7047BB4B78B}"/>
              </a:ext>
            </a:extLst>
          </p:cNvPr>
          <p:cNvSpPr txBox="1"/>
          <p:nvPr/>
        </p:nvSpPr>
        <p:spPr>
          <a:xfrm>
            <a:off x="4937678" y="0"/>
            <a:ext cx="22026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Periodic DFT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9A1EC38-EF55-D2BA-2C9C-EB91B7114559}"/>
              </a:ext>
            </a:extLst>
          </p:cNvPr>
          <p:cNvCxnSpPr>
            <a:cxnSpLocks/>
          </p:cNvCxnSpPr>
          <p:nvPr/>
        </p:nvCxnSpPr>
        <p:spPr>
          <a:xfrm flipV="1">
            <a:off x="4124998" y="1298554"/>
            <a:ext cx="559864" cy="404915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190CD12-C02C-7DFC-A3D7-C6DE8EFF1CDA}"/>
              </a:ext>
            </a:extLst>
          </p:cNvPr>
          <p:cNvSpPr txBox="1"/>
          <p:nvPr/>
        </p:nvSpPr>
        <p:spPr>
          <a:xfrm>
            <a:off x="1664077" y="1703469"/>
            <a:ext cx="3135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i="1" dirty="0"/>
              <a:t>n</a:t>
            </a:r>
            <a:r>
              <a:rPr lang="en-GB" sz="2400" dirty="0"/>
              <a:t>th one-electron state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5FA29B-98B7-1C02-F0A7-088028653775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6085493" y="1298554"/>
            <a:ext cx="380629" cy="1009116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66ADCBA-AFF2-B83C-3CA0-4CCF65C4C52C}"/>
              </a:ext>
            </a:extLst>
          </p:cNvPr>
          <p:cNvSpPr txBox="1"/>
          <p:nvPr/>
        </p:nvSpPr>
        <p:spPr>
          <a:xfrm>
            <a:off x="1996966" y="734163"/>
            <a:ext cx="101950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Bloch theorem: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A5FA9B-1DE1-3BF2-8FCF-3871717041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153"/>
          <a:stretch>
            <a:fillRect/>
          </a:stretch>
        </p:blipFill>
        <p:spPr>
          <a:xfrm>
            <a:off x="4166402" y="529146"/>
            <a:ext cx="3859195" cy="7118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6154FE3-D005-225B-0432-AE93BD5E9807}"/>
              </a:ext>
            </a:extLst>
          </p:cNvPr>
          <p:cNvSpPr txBox="1"/>
          <p:nvPr/>
        </p:nvSpPr>
        <p:spPr>
          <a:xfrm>
            <a:off x="3226679" y="2307670"/>
            <a:ext cx="571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cell-periodic part (</a:t>
            </a:r>
            <a:r>
              <a:rPr lang="en-GB" sz="2400" b="1" dirty="0"/>
              <a:t>L</a:t>
            </a:r>
            <a:r>
              <a:rPr lang="en-GB" sz="2400" dirty="0"/>
              <a:t> = lattice parameter)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C1107F-490C-7402-DC1A-83C0ACB50377}"/>
              </a:ext>
            </a:extLst>
          </p:cNvPr>
          <p:cNvCxnSpPr>
            <a:cxnSpLocks/>
          </p:cNvCxnSpPr>
          <p:nvPr/>
        </p:nvCxnSpPr>
        <p:spPr>
          <a:xfrm flipH="1" flipV="1">
            <a:off x="7889671" y="1140177"/>
            <a:ext cx="571215" cy="353515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D1D309F-8BA4-FF7D-453B-7C97683E4EF8}"/>
              </a:ext>
            </a:extLst>
          </p:cNvPr>
          <p:cNvSpPr txBox="1"/>
          <p:nvPr/>
        </p:nvSpPr>
        <p:spPr>
          <a:xfrm>
            <a:off x="8376561" y="1498226"/>
            <a:ext cx="2791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Bloch phase factor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08FED7-2967-DC47-E0D6-673F3EF8A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220" y="2769335"/>
            <a:ext cx="3830465" cy="71071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71C87C6-989A-B6BC-8F40-EED000C2C04B}"/>
              </a:ext>
            </a:extLst>
          </p:cNvPr>
          <p:cNvSpPr txBox="1"/>
          <p:nvPr/>
        </p:nvSpPr>
        <p:spPr>
          <a:xfrm>
            <a:off x="243727" y="3854193"/>
            <a:ext cx="116835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In plane-wave basis: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with:</a:t>
            </a:r>
          </a:p>
          <a:p>
            <a:endParaRPr lang="en-GB" sz="2400" dirty="0"/>
          </a:p>
          <a:p>
            <a:r>
              <a:rPr lang="en-GB" sz="2400" dirty="0"/>
              <a:t>where </a:t>
            </a:r>
            <a:r>
              <a:rPr lang="en-GB" sz="2400" i="1" dirty="0"/>
              <a:t>n</a:t>
            </a:r>
            <a:r>
              <a:rPr lang="en-GB" sz="2400" dirty="0"/>
              <a:t> are integers and </a:t>
            </a:r>
            <a:r>
              <a:rPr lang="en-GB" sz="2400" b="1" dirty="0"/>
              <a:t>b</a:t>
            </a:r>
            <a:r>
              <a:rPr lang="en-GB" sz="2400" dirty="0"/>
              <a:t> are reciprocal lattice unit vectors.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564FCC4-2671-D2D5-17DF-B6A9055D9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778" y="3583313"/>
            <a:ext cx="5481545" cy="99077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BA40F3A-3689-0187-ADC6-DB2870B30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4422" y="4773969"/>
            <a:ext cx="5632995" cy="841076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E5AEFE7-1FAF-E8E4-33B0-08C5A2BCF683}"/>
              </a:ext>
            </a:extLst>
          </p:cNvPr>
          <p:cNvCxnSpPr>
            <a:cxnSpLocks/>
          </p:cNvCxnSpPr>
          <p:nvPr/>
        </p:nvCxnSpPr>
        <p:spPr>
          <a:xfrm flipH="1" flipV="1">
            <a:off x="6275807" y="4358798"/>
            <a:ext cx="2185079" cy="461167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98F1F81-8722-5D5D-613E-8CD6A9FB4D11}"/>
              </a:ext>
            </a:extLst>
          </p:cNvPr>
          <p:cNvSpPr txBox="1"/>
          <p:nvPr/>
        </p:nvSpPr>
        <p:spPr>
          <a:xfrm>
            <a:off x="8619324" y="4219801"/>
            <a:ext cx="26739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We minimise </a:t>
            </a:r>
            <a:r>
              <a:rPr lang="en-GB" sz="2400" i="1" dirty="0" err="1"/>
              <a:t>E</a:t>
            </a:r>
            <a:r>
              <a:rPr lang="en-GB" sz="2400" baseline="-25000" dirty="0" err="1"/>
              <a:t>tot</a:t>
            </a:r>
            <a:r>
              <a:rPr lang="en-GB" sz="2400" dirty="0"/>
              <a:t> by varying these coefficients. </a:t>
            </a:r>
          </a:p>
        </p:txBody>
      </p:sp>
    </p:spTree>
    <p:extLst>
      <p:ext uri="{BB962C8B-B14F-4D97-AF65-F5344CB8AC3E}">
        <p14:creationId xmlns:p14="http://schemas.microsoft.com/office/powerpoint/2010/main" val="136665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C563C-B29F-6FCE-568F-A474C2B3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D24D51-4541-F271-2E71-C6DD0DC8A7B9}"/>
              </a:ext>
            </a:extLst>
          </p:cNvPr>
          <p:cNvSpPr txBox="1"/>
          <p:nvPr/>
        </p:nvSpPr>
        <p:spPr>
          <a:xfrm>
            <a:off x="4937678" y="0"/>
            <a:ext cx="22026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Periodic DFT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5D6680-97D7-C201-625A-CD081DCC9B3E}"/>
              </a:ext>
            </a:extLst>
          </p:cNvPr>
          <p:cNvSpPr txBox="1"/>
          <p:nvPr/>
        </p:nvSpPr>
        <p:spPr>
          <a:xfrm>
            <a:off x="243727" y="889313"/>
            <a:ext cx="1168353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In plane-wave basis: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with:</a:t>
            </a:r>
          </a:p>
          <a:p>
            <a:endParaRPr lang="en-GB" sz="2400" dirty="0"/>
          </a:p>
          <a:p>
            <a:r>
              <a:rPr lang="en-GB" sz="2400" dirty="0"/>
              <a:t>where </a:t>
            </a:r>
            <a:r>
              <a:rPr lang="en-GB" sz="2400" i="1" dirty="0"/>
              <a:t>n</a:t>
            </a:r>
            <a:r>
              <a:rPr lang="en-GB" sz="2400" dirty="0"/>
              <a:t> are integers and </a:t>
            </a:r>
            <a:r>
              <a:rPr lang="en-GB" sz="2400" b="1" dirty="0"/>
              <a:t>b</a:t>
            </a:r>
            <a:r>
              <a:rPr lang="en-GB" sz="2400" dirty="0"/>
              <a:t> are reciprocal lattice unit vectors.</a:t>
            </a:r>
          </a:p>
          <a:p>
            <a:endParaRPr lang="en-GB" sz="2400" dirty="0"/>
          </a:p>
          <a:p>
            <a:r>
              <a:rPr lang="en-GB" sz="2400" dirty="0"/>
              <a:t>Plane waves are nice because the kinetic energy is diagonal: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For practical calculations we define our basis by setting a maximum kinetic energy.</a:t>
            </a:r>
          </a:p>
          <a:p>
            <a:endParaRPr lang="en-GB" sz="2400" dirty="0"/>
          </a:p>
          <a:p>
            <a:r>
              <a:rPr lang="en-GB" sz="2400" dirty="0"/>
              <a:t>PW are not so good for describing core electrons, as these need PWs with enormous kinetic energy. So, we use pseudopotentials to treat these (we won’t go into details).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8483CA0-85D1-B066-44FA-125158FA1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778" y="618433"/>
            <a:ext cx="5481545" cy="99077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E99F72C-40E6-E274-293D-85832567D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22" y="1809089"/>
            <a:ext cx="5632995" cy="841076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EC8204A-C336-DD24-DBF7-1DD739C8AF16}"/>
              </a:ext>
            </a:extLst>
          </p:cNvPr>
          <p:cNvCxnSpPr>
            <a:cxnSpLocks/>
          </p:cNvCxnSpPr>
          <p:nvPr/>
        </p:nvCxnSpPr>
        <p:spPr>
          <a:xfrm flipH="1" flipV="1">
            <a:off x="6275807" y="1393918"/>
            <a:ext cx="2185079" cy="461167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7AC47D5-4290-252C-25FD-2B34C8FBE8F0}"/>
              </a:ext>
            </a:extLst>
          </p:cNvPr>
          <p:cNvSpPr txBox="1"/>
          <p:nvPr/>
        </p:nvSpPr>
        <p:spPr>
          <a:xfrm>
            <a:off x="8619324" y="1254921"/>
            <a:ext cx="26739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We minimise </a:t>
            </a:r>
            <a:r>
              <a:rPr lang="en-GB" sz="2400" i="1" dirty="0" err="1"/>
              <a:t>E</a:t>
            </a:r>
            <a:r>
              <a:rPr lang="en-GB" sz="2400" baseline="-25000" dirty="0" err="1"/>
              <a:t>tot</a:t>
            </a:r>
            <a:r>
              <a:rPr lang="en-GB" sz="2400" dirty="0"/>
              <a:t> by varying these coefficients.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D2D410-F49F-097A-8EFE-5C7B0FD8E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5446" y="3938631"/>
            <a:ext cx="5826207" cy="84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75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82E1-CB94-2E52-55C2-BDA68C30B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64622E-B624-A1A0-CB9D-1187A19209FF}"/>
              </a:ext>
            </a:extLst>
          </p:cNvPr>
          <p:cNvSpPr txBox="1"/>
          <p:nvPr/>
        </p:nvSpPr>
        <p:spPr>
          <a:xfrm>
            <a:off x="4937678" y="0"/>
            <a:ext cx="22026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Periodic DFT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09C0D0-3ABD-092B-103D-0C3CF3A275CB}"/>
              </a:ext>
            </a:extLst>
          </p:cNvPr>
          <p:cNvSpPr txBox="1"/>
          <p:nvPr/>
        </p:nvSpPr>
        <p:spPr>
          <a:xfrm>
            <a:off x="254234" y="731855"/>
            <a:ext cx="11683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Total density is obtained by summing over occupied states </a:t>
            </a:r>
            <a:r>
              <a:rPr lang="en-GB" sz="2400" i="1" dirty="0"/>
              <a:t>n</a:t>
            </a:r>
            <a:r>
              <a:rPr lang="en-GB" sz="2400" dirty="0"/>
              <a:t> and a finite </a:t>
            </a:r>
            <a:r>
              <a:rPr lang="en-GB" sz="2400" b="1" dirty="0"/>
              <a:t>k</a:t>
            </a:r>
            <a:r>
              <a:rPr lang="en-GB" sz="2400" dirty="0"/>
              <a:t> grid: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9DAFBE7-C8A5-99E7-59C1-CE49776C6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355" y="1276395"/>
            <a:ext cx="7772400" cy="1141708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F7F55B2-66AE-BC08-CB45-DE2A8A1B8BEC}"/>
              </a:ext>
            </a:extLst>
          </p:cNvPr>
          <p:cNvCxnSpPr>
            <a:cxnSpLocks/>
          </p:cNvCxnSpPr>
          <p:nvPr/>
        </p:nvCxnSpPr>
        <p:spPr>
          <a:xfrm flipV="1">
            <a:off x="6969829" y="2028147"/>
            <a:ext cx="105989" cy="644420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03A8904-77CE-3902-9391-4F0EE06E7C31}"/>
              </a:ext>
            </a:extLst>
          </p:cNvPr>
          <p:cNvSpPr txBox="1"/>
          <p:nvPr/>
        </p:nvSpPr>
        <p:spPr>
          <a:xfrm>
            <a:off x="5827240" y="2647499"/>
            <a:ext cx="22851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k</a:t>
            </a:r>
            <a:r>
              <a:rPr lang="en-GB" sz="2400" dirty="0"/>
              <a:t>-point weights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43DCED-D418-E7ED-DA7C-CB2C17B7B96D}"/>
              </a:ext>
            </a:extLst>
          </p:cNvPr>
          <p:cNvSpPr txBox="1"/>
          <p:nvPr/>
        </p:nvSpPr>
        <p:spPr>
          <a:xfrm>
            <a:off x="254234" y="3338560"/>
            <a:ext cx="116835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When using GGA/LDA, </a:t>
            </a:r>
            <a:r>
              <a:rPr lang="en-GB" sz="2400" i="1" dirty="0">
                <a:latin typeface="Symbol" pitchFamily="2" charset="2"/>
              </a:rPr>
              <a:t>r</a:t>
            </a:r>
            <a:r>
              <a:rPr lang="en-GB" sz="2400" dirty="0"/>
              <a:t>(</a:t>
            </a:r>
            <a:r>
              <a:rPr lang="en-GB" sz="2400" b="1" dirty="0"/>
              <a:t>r</a:t>
            </a:r>
            <a:r>
              <a:rPr lang="en-GB" sz="2400" dirty="0"/>
              <a:t>) completely determines </a:t>
            </a:r>
            <a:r>
              <a:rPr lang="en-GB" sz="2400" i="1" dirty="0">
                <a:latin typeface="Symbol" pitchFamily="2" charset="2"/>
              </a:rPr>
              <a:t>y</a:t>
            </a:r>
            <a:r>
              <a:rPr lang="en-GB" sz="2400" dirty="0"/>
              <a:t>(</a:t>
            </a:r>
            <a:r>
              <a:rPr lang="en-GB" sz="2400" b="1" dirty="0"/>
              <a:t>r</a:t>
            </a:r>
            <a:r>
              <a:rPr lang="en-GB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r>
              <a:rPr lang="en-GB" sz="2400" dirty="0">
                <a:latin typeface="Aptos" panose="020B0004020202020204" pitchFamily="34" charset="0"/>
              </a:rPr>
              <a:t>To plot band structures, we can: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latin typeface="Aptos" panose="020B0004020202020204" pitchFamily="34" charset="0"/>
              </a:rPr>
              <a:t>Converge</a:t>
            </a:r>
            <a:r>
              <a:rPr lang="en-GB" sz="2400" i="1" dirty="0">
                <a:latin typeface="Symbol" pitchFamily="2" charset="2"/>
              </a:rPr>
              <a:t> r</a:t>
            </a:r>
            <a:r>
              <a:rPr lang="en-GB" sz="2400" dirty="0"/>
              <a:t>(</a:t>
            </a:r>
            <a:r>
              <a:rPr lang="en-GB" sz="2400" b="1" dirty="0"/>
              <a:t>r</a:t>
            </a:r>
            <a:r>
              <a:rPr lang="en-GB" sz="2400" dirty="0"/>
              <a:t>) and </a:t>
            </a:r>
            <a:r>
              <a:rPr lang="en-GB" sz="2400" i="1" dirty="0" err="1"/>
              <a:t>E</a:t>
            </a:r>
            <a:r>
              <a:rPr lang="en-GB" sz="2400" baseline="-25000" dirty="0" err="1"/>
              <a:t>tot</a:t>
            </a:r>
            <a:r>
              <a:rPr lang="en-GB" sz="2400" dirty="0"/>
              <a:t> </a:t>
            </a:r>
            <a:r>
              <a:rPr lang="en-GB" sz="2400" dirty="0" err="1"/>
              <a:t>wrt</a:t>
            </a:r>
            <a:r>
              <a:rPr lang="en-GB" sz="2400" dirty="0"/>
              <a:t> the </a:t>
            </a:r>
            <a:r>
              <a:rPr lang="en-GB" sz="2400" b="1" dirty="0"/>
              <a:t>k</a:t>
            </a:r>
            <a:r>
              <a:rPr lang="en-GB" sz="2400" dirty="0"/>
              <a:t>-grid: </a:t>
            </a:r>
            <a:r>
              <a:rPr lang="en-GB" sz="2400" dirty="0">
                <a:solidFill>
                  <a:schemeClr val="accent5"/>
                </a:solidFill>
              </a:rPr>
              <a:t>self-consistent field (SCF) calculation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latin typeface="Aptos" panose="020B0004020202020204" pitchFamily="34" charset="0"/>
              </a:rPr>
              <a:t>Freeze </a:t>
            </a:r>
            <a:r>
              <a:rPr lang="en-GB" sz="2400" i="1" dirty="0">
                <a:latin typeface="Symbol" pitchFamily="2" charset="2"/>
              </a:rPr>
              <a:t>r</a:t>
            </a:r>
            <a:r>
              <a:rPr lang="en-GB" sz="2400" dirty="0"/>
              <a:t>(</a:t>
            </a:r>
            <a:r>
              <a:rPr lang="en-GB" sz="2400" b="1" dirty="0"/>
              <a:t>r</a:t>
            </a:r>
            <a:r>
              <a:rPr lang="en-GB" sz="2400" dirty="0"/>
              <a:t>) and evaluate any </a:t>
            </a:r>
            <a:r>
              <a:rPr lang="en-GB" sz="2400" b="1" dirty="0"/>
              <a:t>k</a:t>
            </a:r>
            <a:r>
              <a:rPr lang="en-GB" sz="2400" dirty="0"/>
              <a:t>-grid: </a:t>
            </a:r>
            <a:r>
              <a:rPr lang="en-GB" sz="2400" dirty="0">
                <a:solidFill>
                  <a:schemeClr val="accent5"/>
                </a:solidFill>
              </a:rPr>
              <a:t>non-SCF (NCSF) calculation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Run various post-processing on </a:t>
            </a:r>
            <a:r>
              <a:rPr lang="en-GB" sz="2400" i="1" dirty="0">
                <a:latin typeface="Symbol" pitchFamily="2" charset="2"/>
              </a:rPr>
              <a:t>y</a:t>
            </a:r>
            <a:r>
              <a:rPr lang="en-GB" sz="2400" dirty="0"/>
              <a:t> obtained above. </a:t>
            </a:r>
          </a:p>
        </p:txBody>
      </p:sp>
    </p:spTree>
    <p:extLst>
      <p:ext uri="{BB962C8B-B14F-4D97-AF65-F5344CB8AC3E}">
        <p14:creationId xmlns:p14="http://schemas.microsoft.com/office/powerpoint/2010/main" val="3508494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54532-1A48-6DAC-3595-BA8A1DE7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038ADE-0143-4211-C6E1-6001F0987838}"/>
              </a:ext>
            </a:extLst>
          </p:cNvPr>
          <p:cNvSpPr txBox="1"/>
          <p:nvPr/>
        </p:nvSpPr>
        <p:spPr>
          <a:xfrm>
            <a:off x="2925132" y="0"/>
            <a:ext cx="7292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Peierls distortion in </a:t>
            </a:r>
            <a:r>
              <a:rPr lang="en-GB" sz="2800" i="1" dirty="0"/>
              <a:t>trans</a:t>
            </a:r>
            <a:r>
              <a:rPr lang="en-GB" sz="2800" dirty="0"/>
              <a:t>-polyacetylene (</a:t>
            </a:r>
            <a:r>
              <a:rPr lang="en-GB" sz="2800" i="1" dirty="0"/>
              <a:t>t</a:t>
            </a:r>
            <a:r>
              <a:rPr lang="en-GB" sz="2800" dirty="0"/>
              <a:t>-PA)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B96765-13BB-D7CD-AFDF-A5894EC72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861" y="788037"/>
            <a:ext cx="4648278" cy="17867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D276EA-2254-D871-FC99-55ACB88EA362}"/>
              </a:ext>
            </a:extLst>
          </p:cNvPr>
          <p:cNvSpPr txBox="1"/>
          <p:nvPr/>
        </p:nvSpPr>
        <p:spPr>
          <a:xfrm>
            <a:off x="158128" y="3622439"/>
            <a:ext cx="1203387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Following the instruction in the Google </a:t>
            </a:r>
            <a:r>
              <a:rPr lang="en-GB" sz="2400" dirty="0" err="1"/>
              <a:t>Colab</a:t>
            </a:r>
            <a:r>
              <a:rPr lang="en-GB" sz="2400" dirty="0"/>
              <a:t> notebook:</a:t>
            </a:r>
          </a:p>
          <a:p>
            <a:pPr marL="457200" indent="-457200">
              <a:buAutoNum type="arabicPeriod"/>
            </a:pPr>
            <a:r>
              <a:rPr lang="en-GB" sz="2400" dirty="0"/>
              <a:t>Compute the density of states and band structure of the provided cumulene geometry.</a:t>
            </a:r>
          </a:p>
          <a:p>
            <a:pPr marL="457200" indent="-457200">
              <a:buAutoNum type="arabicPeriod"/>
            </a:pPr>
            <a:r>
              <a:rPr lang="en-GB" sz="2400" dirty="0"/>
              <a:t>Optimise the geometry of </a:t>
            </a:r>
            <a:r>
              <a:rPr lang="en-GB" sz="2400" i="1" dirty="0"/>
              <a:t>t</a:t>
            </a:r>
            <a:r>
              <a:rPr lang="en-GB" sz="2400" dirty="0"/>
              <a:t>-PA.</a:t>
            </a:r>
          </a:p>
          <a:p>
            <a:pPr marL="457200" indent="-457200">
              <a:buAutoNum type="arabicPeriod"/>
            </a:pPr>
            <a:r>
              <a:rPr lang="en-GB" sz="2400" dirty="0"/>
              <a:t>Compute the density of states, band structure of relaxed </a:t>
            </a:r>
            <a:r>
              <a:rPr lang="en-GB" sz="2400" dirty="0" err="1"/>
              <a:t>polyenic</a:t>
            </a:r>
            <a:r>
              <a:rPr lang="en-GB" sz="2400" dirty="0"/>
              <a:t> </a:t>
            </a:r>
            <a:r>
              <a:rPr lang="en-GB" sz="2400" i="1" dirty="0"/>
              <a:t>t</a:t>
            </a:r>
            <a:r>
              <a:rPr lang="en-GB" sz="2400" dirty="0"/>
              <a:t>-PA.</a:t>
            </a:r>
          </a:p>
          <a:p>
            <a:pPr marL="457200" indent="-457200">
              <a:buAutoNum type="arabicPeriod"/>
            </a:pPr>
            <a:r>
              <a:rPr lang="en-GB" sz="2400" dirty="0"/>
              <a:t>Fit your results onto the Su–Schrieffer–Heeger model.</a:t>
            </a:r>
          </a:p>
          <a:p>
            <a:pPr marL="457200" indent="-457200">
              <a:buAutoNum type="arabicPeriod"/>
            </a:pPr>
            <a:r>
              <a:rPr lang="en-GB" sz="2400" dirty="0"/>
              <a:t>Discuss.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7EBB9E-2A14-909C-31B8-E170B921BAB7}"/>
              </a:ext>
            </a:extLst>
          </p:cNvPr>
          <p:cNvSpPr txBox="1"/>
          <p:nvPr/>
        </p:nvSpPr>
        <p:spPr>
          <a:xfrm>
            <a:off x="4156365" y="2589232"/>
            <a:ext cx="1526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cumulene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D0C14F-7D04-C142-EC98-D80AED89F1CE}"/>
              </a:ext>
            </a:extLst>
          </p:cNvPr>
          <p:cNvSpPr txBox="1"/>
          <p:nvPr/>
        </p:nvSpPr>
        <p:spPr>
          <a:xfrm>
            <a:off x="6752706" y="2589231"/>
            <a:ext cx="1238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polyene</a:t>
            </a:r>
          </a:p>
        </p:txBody>
      </p:sp>
      <p:pic>
        <p:nvPicPr>
          <p:cNvPr id="1026" name="Picture 2" descr="QR Code Image">
            <a:extLst>
              <a:ext uri="{FF2B5EF4-FFF2-40B4-BE49-F238E27FC236}">
                <a16:creationId xmlns:a16="http://schemas.microsoft.com/office/drawing/2014/main" id="{F063F3A5-D2CA-4666-A314-2C2CA674F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28" y="641936"/>
            <a:ext cx="2334172" cy="233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07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QR Code Image">
            <a:extLst>
              <a:ext uri="{FF2B5EF4-FFF2-40B4-BE49-F238E27FC236}">
                <a16:creationId xmlns:a16="http://schemas.microsoft.com/office/drawing/2014/main" id="{7D705460-1AED-EAB9-7176-8BAE54B60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6613" y="1982486"/>
            <a:ext cx="4118769" cy="4118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3AA58E-722A-18DC-AB15-947750F5F1EC}"/>
              </a:ext>
            </a:extLst>
          </p:cNvPr>
          <p:cNvSpPr txBox="1"/>
          <p:nvPr/>
        </p:nvSpPr>
        <p:spPr>
          <a:xfrm>
            <a:off x="713980" y="854266"/>
            <a:ext cx="107640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To begin, open your terminal and type (or scan QR code and copy): </a:t>
            </a:r>
          </a:p>
          <a:p>
            <a:pPr algn="ctr"/>
            <a:r>
              <a:rPr lang="en-GB" sz="2400" dirty="0">
                <a:latin typeface="Aptos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git clone https://</a:t>
            </a:r>
            <a:r>
              <a:rPr lang="en-GB" sz="2400" dirty="0" err="1">
                <a:latin typeface="Aptos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github.com</a:t>
            </a:r>
            <a:r>
              <a:rPr lang="en-GB" sz="2400" dirty="0">
                <a:latin typeface="Aptos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/</a:t>
            </a:r>
            <a:r>
              <a:rPr lang="en-GB" sz="2400" dirty="0" err="1">
                <a:latin typeface="Aptos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ironcevic</a:t>
            </a:r>
            <a:r>
              <a:rPr lang="en-GB" sz="2400" dirty="0">
                <a:latin typeface="Aptos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/</a:t>
            </a:r>
            <a:r>
              <a:rPr lang="en-GB" sz="2400" dirty="0" err="1">
                <a:latin typeface="Aptos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Modelling_low_dimensional_materials.git</a:t>
            </a:r>
            <a:endParaRPr lang="en-GB" sz="2400" dirty="0">
              <a:latin typeface="Aptos" panose="020B0004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870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317B2-F490-8AF7-8D88-6320A7F05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B96055-B2AE-8055-EFC3-E6855AFCC1D4}"/>
              </a:ext>
            </a:extLst>
          </p:cNvPr>
          <p:cNvSpPr txBox="1"/>
          <p:nvPr/>
        </p:nvSpPr>
        <p:spPr>
          <a:xfrm>
            <a:off x="2747549" y="5139"/>
            <a:ext cx="6696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Aptos" panose="020B0004020202020204" pitchFamily="34" charset="0"/>
              </a:rPr>
              <a:t>A real-life example: Peierls distortion in 2D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5261CB-1D69-BF14-5033-D12E699F1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596" y="1203454"/>
            <a:ext cx="6618805" cy="12080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CF1557-B1A3-1EC2-200A-29E143BABD07}"/>
              </a:ext>
            </a:extLst>
          </p:cNvPr>
          <p:cNvSpPr txBox="1"/>
          <p:nvPr/>
        </p:nvSpPr>
        <p:spPr>
          <a:xfrm>
            <a:off x="151213" y="718183"/>
            <a:ext cx="9991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1C1D1E"/>
                </a:solidFill>
                <a:latin typeface="Aptos" panose="020B0004020202020204" pitchFamily="34" charset="0"/>
                <a:cs typeface="Lato" panose="020F0502020204030203" pitchFamily="34" charset="0"/>
              </a:rPr>
              <a:t>1D porphyrin chains do not undergo Peierls distortion (</a:t>
            </a:r>
            <a:r>
              <a:rPr lang="en-GB" i="1" dirty="0">
                <a:latin typeface="Aptos" panose="020B0004020202020204" pitchFamily="34" charset="0"/>
                <a:ea typeface="Calibri" panose="020F0502020204030204" pitchFamily="34" charset="0"/>
                <a:cs typeface="Lato" panose="020F0502020204030203" pitchFamily="34" charset="0"/>
              </a:rPr>
              <a:t>Science </a:t>
            </a:r>
            <a:r>
              <a:rPr lang="en-GB" b="1" dirty="0">
                <a:latin typeface="Aptos" panose="020B0004020202020204" pitchFamily="34" charset="0"/>
                <a:ea typeface="Calibri" panose="020F0502020204030204" pitchFamily="34" charset="0"/>
                <a:cs typeface="Lato" panose="020F0502020204030203" pitchFamily="34" charset="0"/>
              </a:rPr>
              <a:t>2001</a:t>
            </a:r>
            <a:r>
              <a:rPr lang="en-GB" dirty="0">
                <a:latin typeface="Aptos" panose="020B0004020202020204" pitchFamily="34" charset="0"/>
                <a:ea typeface="Calibri" panose="020F0502020204030204" pitchFamily="34" charset="0"/>
                <a:cs typeface="Lato" panose="020F0502020204030203" pitchFamily="34" charset="0"/>
              </a:rPr>
              <a:t>, </a:t>
            </a:r>
            <a:r>
              <a:rPr lang="en-GB" i="1" dirty="0">
                <a:latin typeface="Aptos" panose="020B0004020202020204" pitchFamily="34" charset="0"/>
                <a:ea typeface="Calibri" panose="020F0502020204030204" pitchFamily="34" charset="0"/>
                <a:cs typeface="Lato" panose="020F0502020204030203" pitchFamily="34" charset="0"/>
              </a:rPr>
              <a:t>293</a:t>
            </a:r>
            <a:r>
              <a:rPr lang="en-GB" dirty="0">
                <a:latin typeface="Aptos" panose="020B0004020202020204" pitchFamily="34" charset="0"/>
                <a:ea typeface="Calibri" panose="020F0502020204030204" pitchFamily="34" charset="0"/>
                <a:cs typeface="Lato" panose="020F0502020204030203" pitchFamily="34" charset="0"/>
              </a:rPr>
              <a:t>, 79.</a:t>
            </a:r>
            <a:r>
              <a:rPr lang="en-GB" dirty="0">
                <a:solidFill>
                  <a:srgbClr val="1C1D1E"/>
                </a:solidFill>
                <a:latin typeface="Aptos" panose="020B0004020202020204" pitchFamily="34" charset="0"/>
                <a:cs typeface="Lato" panose="020F0502020204030203" pitchFamily="34" charset="0"/>
              </a:rPr>
              <a:t>)</a:t>
            </a:r>
          </a:p>
          <a:p>
            <a:r>
              <a:rPr lang="en-GB" i="1" dirty="0">
                <a:solidFill>
                  <a:srgbClr val="1C1D1E"/>
                </a:solidFill>
                <a:latin typeface="Aptos" panose="020B0004020202020204" pitchFamily="34" charset="0"/>
                <a:cs typeface="Lato" panose="020F0502020204030203" pitchFamily="34" charset="0"/>
              </a:rPr>
              <a:t>N</a:t>
            </a:r>
            <a:r>
              <a:rPr lang="en-GB" dirty="0">
                <a:solidFill>
                  <a:srgbClr val="1C1D1E"/>
                </a:solidFill>
                <a:latin typeface="Aptos" panose="020B0004020202020204" pitchFamily="34" charset="0"/>
                <a:cs typeface="Lato" panose="020F0502020204030203" pitchFamily="34" charset="0"/>
              </a:rPr>
              <a:t> → ∞, band gap →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BE38B6-0A84-D6E2-3B44-3128316B38E9}"/>
              </a:ext>
            </a:extLst>
          </p:cNvPr>
          <p:cNvSpPr txBox="1"/>
          <p:nvPr/>
        </p:nvSpPr>
        <p:spPr>
          <a:xfrm>
            <a:off x="151213" y="2728169"/>
            <a:ext cx="9991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1C1D1E"/>
                </a:solidFill>
                <a:latin typeface="Aptos" panose="020B0004020202020204" pitchFamily="34" charset="0"/>
                <a:cs typeface="Lato" panose="020F0502020204030203" pitchFamily="34" charset="0"/>
              </a:rPr>
              <a:t>What about 2D sheets? </a:t>
            </a: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B52BE6AF-6DEA-8B44-EB73-276DD9081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58" y="3529735"/>
            <a:ext cx="4549969" cy="247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F76980-F41A-A19F-98AC-1CFE403BFD21}"/>
              </a:ext>
            </a:extLst>
          </p:cNvPr>
          <p:cNvSpPr txBox="1"/>
          <p:nvPr/>
        </p:nvSpPr>
        <p:spPr>
          <a:xfrm>
            <a:off x="591355" y="6089642"/>
            <a:ext cx="4390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0" i="1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J. Am. Chem. Soc.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2023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 145, 967–977.</a:t>
            </a:r>
            <a:endParaRPr lang="en-GB" dirty="0">
              <a:latin typeface="Aptos" panose="020B00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DDEE10-962E-1386-284F-E58D4F8BC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4270" y="3447088"/>
            <a:ext cx="2751074" cy="264047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00F2761-1731-F6E5-A26A-A21C480DDC7F}"/>
              </a:ext>
            </a:extLst>
          </p:cNvPr>
          <p:cNvSpPr txBox="1"/>
          <p:nvPr/>
        </p:nvSpPr>
        <p:spPr>
          <a:xfrm>
            <a:off x="6553200" y="6087566"/>
            <a:ext cx="3773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i="1" dirty="0">
                <a:solidFill>
                  <a:srgbClr val="000000"/>
                </a:solidFill>
                <a:latin typeface="Aptos" panose="020B0004020202020204" pitchFamily="34" charset="0"/>
              </a:rPr>
              <a:t>Nature Commun.</a:t>
            </a:r>
            <a: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GB" b="1" dirty="0">
                <a:solidFill>
                  <a:srgbClr val="000000"/>
                </a:solidFill>
                <a:latin typeface="Aptos" panose="020B0004020202020204" pitchFamily="34" charset="0"/>
              </a:rPr>
              <a:t>2023</a:t>
            </a:r>
            <a: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  <a:t>, </a:t>
            </a:r>
            <a:r>
              <a:rPr lang="en-GB" i="1" dirty="0">
                <a:latin typeface="Aptos" panose="020B0004020202020204" pitchFamily="34" charset="0"/>
              </a:rPr>
              <a:t>14</a:t>
            </a:r>
            <a:r>
              <a:rPr lang="en-GB" dirty="0">
                <a:latin typeface="Aptos" panose="020B0004020202020204" pitchFamily="34" charset="0"/>
              </a:rPr>
              <a:t>, 6308.</a:t>
            </a:r>
            <a:endParaRPr lang="en-GB" b="0" i="0" u="none" strike="noStrike" dirty="0">
              <a:solidFill>
                <a:srgbClr val="000000"/>
              </a:solidFill>
              <a:effectLst/>
              <a:latin typeface="Aptos" panose="020B00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63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3C5D19B2-C404-F9F2-DEE2-88E588E8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764230"/>
          </a:xfrm>
        </p:spPr>
        <p:txBody>
          <a:bodyPr>
            <a:normAutofit/>
          </a:bodyPr>
          <a:lstStyle/>
          <a:p>
            <a:pPr algn="ctr"/>
            <a:r>
              <a:rPr lang="en-GB" sz="2800" dirty="0">
                <a:latin typeface="Aptos" panose="020B0004020202020204" pitchFamily="34" charset="0"/>
              </a:rPr>
              <a:t>Theory: Zn porphene is a metallic conductor</a:t>
            </a:r>
            <a:endParaRPr lang="en-GB" sz="2800" b="1" dirty="0"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18C291-F242-72F5-9E34-9ED13BF34F66}"/>
              </a:ext>
            </a:extLst>
          </p:cNvPr>
          <p:cNvSpPr txBox="1"/>
          <p:nvPr/>
        </p:nvSpPr>
        <p:spPr>
          <a:xfrm>
            <a:off x="7140115" y="1987717"/>
            <a:ext cx="5051886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i="1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Int. J. Quantum Chem. </a:t>
            </a:r>
            <a:r>
              <a:rPr lang="en-US" b="1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2009</a:t>
            </a:r>
            <a:r>
              <a:rPr lang="en-US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109</a:t>
            </a:r>
            <a:r>
              <a:rPr lang="en-US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1584-1597. </a:t>
            </a:r>
            <a:endParaRPr lang="en-GB" kern="95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US" i="1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Int. J. Quantum Chem. </a:t>
            </a:r>
            <a:r>
              <a:rPr lang="en-US" b="1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2011</a:t>
            </a:r>
            <a:r>
              <a:rPr lang="en-US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111</a:t>
            </a:r>
            <a:r>
              <a:rPr lang="en-US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3230-3238. </a:t>
            </a:r>
            <a:endParaRPr lang="en-GB" kern="95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US" i="1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RSC Adv. </a:t>
            </a:r>
            <a:r>
              <a:rPr lang="en-US" b="1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2013</a:t>
            </a:r>
            <a:r>
              <a:rPr lang="en-US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7016-7022</a:t>
            </a:r>
            <a:r>
              <a:rPr lang="en-US" kern="95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US" i="1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J. Phys. Chem. C </a:t>
            </a:r>
            <a:r>
              <a:rPr lang="en-US" b="1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  <a:r>
              <a:rPr lang="en-US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122</a:t>
            </a:r>
            <a:r>
              <a:rPr lang="en-US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23790-23798.</a:t>
            </a:r>
          </a:p>
          <a:p>
            <a:pPr>
              <a:spcAft>
                <a:spcPts val="800"/>
              </a:spcAft>
            </a:pPr>
            <a:r>
              <a:rPr lang="en-US" i="1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J. Mater. Chem. A </a:t>
            </a:r>
            <a:r>
              <a:rPr lang="en-US" b="1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US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11944-11952. </a:t>
            </a:r>
            <a:endParaRPr lang="en-GB" kern="95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239F1B-294F-161D-2B7C-1241DEBF80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"/>
          <a:stretch/>
        </p:blipFill>
        <p:spPr>
          <a:xfrm>
            <a:off x="442805" y="1032799"/>
            <a:ext cx="6307832" cy="43982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99A986-336B-09F0-48B8-33BB1D4BF7D5}"/>
              </a:ext>
            </a:extLst>
          </p:cNvPr>
          <p:cNvSpPr txBox="1"/>
          <p:nvPr/>
        </p:nvSpPr>
        <p:spPr>
          <a:xfrm>
            <a:off x="958840" y="5701542"/>
            <a:ext cx="102743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GB" sz="2800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Experiment: no metallic conductivity in ~1000⨯1000 </a:t>
            </a:r>
            <a:r>
              <a:rPr lang="en-GB" sz="2800" kern="95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Å</a:t>
            </a:r>
            <a:r>
              <a:rPr lang="en-GB" sz="2800" kern="95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sheets!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C55D1A-5700-52C3-BC5B-DE753F8BDD09}"/>
              </a:ext>
            </a:extLst>
          </p:cNvPr>
          <p:cNvSpPr txBox="1"/>
          <p:nvPr/>
        </p:nvSpPr>
        <p:spPr>
          <a:xfrm>
            <a:off x="-1" y="6493330"/>
            <a:ext cx="3773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solidFill>
                  <a:srgbClr val="000000"/>
                </a:solidFill>
                <a:latin typeface="Aptos" panose="020B0004020202020204" pitchFamily="34" charset="0"/>
              </a:rPr>
              <a:t>Nature Commun.</a:t>
            </a:r>
            <a: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GB" b="1" dirty="0">
                <a:solidFill>
                  <a:srgbClr val="000000"/>
                </a:solidFill>
                <a:latin typeface="Aptos" panose="020B0004020202020204" pitchFamily="34" charset="0"/>
              </a:rPr>
              <a:t>2023</a:t>
            </a:r>
            <a: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  <a:t>, </a:t>
            </a:r>
            <a:r>
              <a:rPr lang="en-GB" i="1" dirty="0">
                <a:latin typeface="Aptos" panose="020B0004020202020204" pitchFamily="34" charset="0"/>
              </a:rPr>
              <a:t>14</a:t>
            </a:r>
            <a:r>
              <a:rPr lang="en-GB" dirty="0">
                <a:latin typeface="Aptos" panose="020B0004020202020204" pitchFamily="34" charset="0"/>
              </a:rPr>
              <a:t>, 6308.</a:t>
            </a:r>
            <a:endParaRPr lang="en-GB" b="0" i="0" u="none" strike="noStrike" dirty="0">
              <a:solidFill>
                <a:srgbClr val="000000"/>
              </a:solidFill>
              <a:effectLst/>
              <a:latin typeface="Aptos" panose="020B00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287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3C5D19B2-C404-F9F2-DEE2-88E588E8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4702"/>
          </a:xfrm>
        </p:spPr>
        <p:txBody>
          <a:bodyPr>
            <a:normAutofit/>
          </a:bodyPr>
          <a:lstStyle/>
          <a:p>
            <a:pPr algn="ctr"/>
            <a:r>
              <a:rPr lang="en-GB" sz="2800" dirty="0">
                <a:latin typeface="Aptos" panose="020B0004020202020204" pitchFamily="34" charset="0"/>
              </a:rPr>
              <a:t>Frontier bands of Zn porphene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982635-38ED-A13E-A92E-D118E66C2A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588"/>
          <a:stretch/>
        </p:blipFill>
        <p:spPr>
          <a:xfrm>
            <a:off x="2241584" y="1053420"/>
            <a:ext cx="5411794" cy="49999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01B067-9AAE-B4DF-3058-8BBC9CBC1E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469" t="70960" r="3968"/>
          <a:stretch/>
        </p:blipFill>
        <p:spPr>
          <a:xfrm flipV="1">
            <a:off x="70194" y="1066890"/>
            <a:ext cx="2423160" cy="23010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854923-88FA-B708-8C1A-F2E8C0FF74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917" t="70960" r="47493"/>
          <a:stretch/>
        </p:blipFill>
        <p:spPr>
          <a:xfrm flipV="1">
            <a:off x="8109" y="3568540"/>
            <a:ext cx="2547330" cy="230106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122A8D6-9252-1EBC-ABD9-AED08FA3F281}"/>
              </a:ext>
            </a:extLst>
          </p:cNvPr>
          <p:cNvSpPr/>
          <p:nvPr/>
        </p:nvSpPr>
        <p:spPr>
          <a:xfrm>
            <a:off x="4734463" y="1066890"/>
            <a:ext cx="2547329" cy="4986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52FAA8-9A94-8864-94FE-DC624D78A02D}"/>
              </a:ext>
            </a:extLst>
          </p:cNvPr>
          <p:cNvSpPr txBox="1"/>
          <p:nvPr/>
        </p:nvSpPr>
        <p:spPr>
          <a:xfrm>
            <a:off x="0" y="64933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ptos" panose="020B0004020202020204" pitchFamily="34" charset="0"/>
              </a:rPr>
              <a:t>JACS</a:t>
            </a:r>
            <a:r>
              <a:rPr lang="en-GB" dirty="0">
                <a:latin typeface="Aptos" panose="020B0004020202020204" pitchFamily="34" charset="0"/>
              </a:rPr>
              <a:t> </a:t>
            </a:r>
            <a:r>
              <a:rPr lang="en-GB" b="1" dirty="0">
                <a:latin typeface="Aptos" panose="020B0004020202020204" pitchFamily="34" charset="0"/>
              </a:rPr>
              <a:t>2024</a:t>
            </a:r>
            <a:r>
              <a:rPr lang="en-GB" dirty="0">
                <a:latin typeface="Aptos" panose="020B0004020202020204" pitchFamily="34" charset="0"/>
              </a:rPr>
              <a:t>, </a:t>
            </a:r>
            <a:r>
              <a:rPr lang="en-GB" i="1" dirty="0">
                <a:latin typeface="Aptos" panose="020B0004020202020204" pitchFamily="34" charset="0"/>
              </a:rPr>
              <a:t>146,</a:t>
            </a:r>
            <a:r>
              <a:rPr lang="en-GB" dirty="0">
                <a:latin typeface="Aptos" panose="020B0004020202020204" pitchFamily="34" charset="0"/>
              </a:rPr>
              <a:t> 3992.</a:t>
            </a:r>
          </a:p>
        </p:txBody>
      </p:sp>
    </p:spTree>
    <p:extLst>
      <p:ext uri="{BB962C8B-B14F-4D97-AF65-F5344CB8AC3E}">
        <p14:creationId xmlns:p14="http://schemas.microsoft.com/office/powerpoint/2010/main" val="1859635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6836372-7C36-53A5-7A74-F5DDFAED1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787" y="1918366"/>
            <a:ext cx="4246355" cy="33172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D29528-DD1E-79AB-6391-CAD70E30BA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8588"/>
          <a:stretch/>
        </p:blipFill>
        <p:spPr>
          <a:xfrm>
            <a:off x="2241584" y="1053420"/>
            <a:ext cx="5411794" cy="49999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854923-88FA-B708-8C1A-F2E8C0FF74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917" t="70960" r="47493"/>
          <a:stretch/>
        </p:blipFill>
        <p:spPr>
          <a:xfrm flipV="1">
            <a:off x="8109" y="3568540"/>
            <a:ext cx="2547330" cy="23010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489CD65-A854-5E77-D5F6-9038FB903C3C}"/>
              </a:ext>
            </a:extLst>
          </p:cNvPr>
          <p:cNvSpPr/>
          <p:nvPr/>
        </p:nvSpPr>
        <p:spPr>
          <a:xfrm>
            <a:off x="4734463" y="1066890"/>
            <a:ext cx="2547329" cy="4986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01B067-9AAE-B4DF-3058-8BBC9CBC1E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469" t="70960" r="3968"/>
          <a:stretch/>
        </p:blipFill>
        <p:spPr>
          <a:xfrm flipV="1">
            <a:off x="70194" y="1066890"/>
            <a:ext cx="2423160" cy="23010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2501DB-802D-828C-CF13-9C32CEA0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4702"/>
          </a:xfrm>
        </p:spPr>
        <p:txBody>
          <a:bodyPr>
            <a:normAutofit/>
          </a:bodyPr>
          <a:lstStyle/>
          <a:p>
            <a:pPr algn="ctr"/>
            <a:r>
              <a:rPr lang="en-GB" sz="2800" dirty="0">
                <a:latin typeface="Aptos" panose="020B0004020202020204" pitchFamily="34" charset="0"/>
              </a:rPr>
              <a:t>Frontier bands of Zn porphene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0A2D3-A328-C74C-42F3-D88C44E020CC}"/>
              </a:ext>
            </a:extLst>
          </p:cNvPr>
          <p:cNvSpPr txBox="1"/>
          <p:nvPr/>
        </p:nvSpPr>
        <p:spPr>
          <a:xfrm>
            <a:off x="0" y="64933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ptos" panose="020B0004020202020204" pitchFamily="34" charset="0"/>
              </a:rPr>
              <a:t>JACS</a:t>
            </a:r>
            <a:r>
              <a:rPr lang="en-GB" dirty="0">
                <a:latin typeface="Aptos" panose="020B0004020202020204" pitchFamily="34" charset="0"/>
              </a:rPr>
              <a:t> </a:t>
            </a:r>
            <a:r>
              <a:rPr lang="en-GB" b="1" dirty="0">
                <a:latin typeface="Aptos" panose="020B0004020202020204" pitchFamily="34" charset="0"/>
              </a:rPr>
              <a:t>2024</a:t>
            </a:r>
            <a:r>
              <a:rPr lang="en-GB" dirty="0">
                <a:latin typeface="Aptos" panose="020B0004020202020204" pitchFamily="34" charset="0"/>
              </a:rPr>
              <a:t>, </a:t>
            </a:r>
            <a:r>
              <a:rPr lang="en-GB" i="1" dirty="0">
                <a:latin typeface="Aptos" panose="020B0004020202020204" pitchFamily="34" charset="0"/>
              </a:rPr>
              <a:t>146,</a:t>
            </a:r>
            <a:r>
              <a:rPr lang="en-GB" dirty="0">
                <a:latin typeface="Aptos" panose="020B0004020202020204" pitchFamily="34" charset="0"/>
              </a:rPr>
              <a:t> 3992.</a:t>
            </a:r>
          </a:p>
        </p:txBody>
      </p:sp>
    </p:spTree>
    <p:extLst>
      <p:ext uri="{BB962C8B-B14F-4D97-AF65-F5344CB8AC3E}">
        <p14:creationId xmlns:p14="http://schemas.microsoft.com/office/powerpoint/2010/main" val="1499941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B982635-38ED-A13E-A92E-D118E66C2A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8588"/>
          <a:stretch/>
        </p:blipFill>
        <p:spPr>
          <a:xfrm>
            <a:off x="2241584" y="1053420"/>
            <a:ext cx="5411794" cy="49999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01B067-9AAE-B4DF-3058-8BBC9CBC1E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469" t="70960" r="3968"/>
          <a:stretch/>
        </p:blipFill>
        <p:spPr>
          <a:xfrm flipV="1">
            <a:off x="70194" y="1066890"/>
            <a:ext cx="2423160" cy="23010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836372-7C36-53A5-7A74-F5DDFAED1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787" y="1918366"/>
            <a:ext cx="4246355" cy="33172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854923-88FA-B708-8C1A-F2E8C0FF74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917" t="70960" r="47493"/>
          <a:stretch/>
        </p:blipFill>
        <p:spPr>
          <a:xfrm flipV="1">
            <a:off x="8109" y="3568540"/>
            <a:ext cx="2547330" cy="23010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AF0A2F-7079-EE75-CE44-3BF5B3714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4702"/>
          </a:xfrm>
        </p:spPr>
        <p:txBody>
          <a:bodyPr>
            <a:normAutofit/>
          </a:bodyPr>
          <a:lstStyle/>
          <a:p>
            <a:pPr algn="ctr"/>
            <a:r>
              <a:rPr lang="en-GB" sz="2800" dirty="0">
                <a:latin typeface="Aptos" panose="020B0004020202020204" pitchFamily="34" charset="0"/>
              </a:rPr>
              <a:t>Frontier bands of Zn porphene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4F29F-772C-5122-116C-21ED1AB9D0C8}"/>
              </a:ext>
            </a:extLst>
          </p:cNvPr>
          <p:cNvSpPr txBox="1"/>
          <p:nvPr/>
        </p:nvSpPr>
        <p:spPr>
          <a:xfrm>
            <a:off x="0" y="64933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latin typeface="Aptos" panose="020B0004020202020204" pitchFamily="34" charset="0"/>
              </a:rPr>
              <a:t>JACS</a:t>
            </a:r>
            <a:r>
              <a:rPr lang="en-GB" dirty="0">
                <a:latin typeface="Aptos" panose="020B0004020202020204" pitchFamily="34" charset="0"/>
              </a:rPr>
              <a:t> </a:t>
            </a:r>
            <a:r>
              <a:rPr lang="en-GB" b="1" dirty="0">
                <a:latin typeface="Aptos" panose="020B0004020202020204" pitchFamily="34" charset="0"/>
              </a:rPr>
              <a:t>2024</a:t>
            </a:r>
            <a:r>
              <a:rPr lang="en-GB" dirty="0">
                <a:latin typeface="Aptos" panose="020B0004020202020204" pitchFamily="34" charset="0"/>
              </a:rPr>
              <a:t>, </a:t>
            </a:r>
            <a:r>
              <a:rPr lang="en-GB" i="1" dirty="0">
                <a:latin typeface="Aptos" panose="020B0004020202020204" pitchFamily="34" charset="0"/>
              </a:rPr>
              <a:t>146,</a:t>
            </a:r>
            <a:r>
              <a:rPr lang="en-GB" dirty="0">
                <a:latin typeface="Aptos" panose="020B0004020202020204" pitchFamily="34" charset="0"/>
              </a:rPr>
              <a:t> 3992.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BCD06E-48A1-45B2-8A62-D01DA086376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461" t="9427" r="16426" b="32518"/>
          <a:stretch/>
        </p:blipFill>
        <p:spPr>
          <a:xfrm>
            <a:off x="7944787" y="5148380"/>
            <a:ext cx="1391073" cy="15296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1B85EE-C47C-4D8F-FF1B-C68CA4411ABA}"/>
              </a:ext>
            </a:extLst>
          </p:cNvPr>
          <p:cNvSpPr txBox="1"/>
          <p:nvPr/>
        </p:nvSpPr>
        <p:spPr>
          <a:xfrm>
            <a:off x="9335860" y="5728522"/>
            <a:ext cx="129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Ivan Pavlak</a:t>
            </a:r>
          </a:p>
        </p:txBody>
      </p:sp>
    </p:spTree>
    <p:extLst>
      <p:ext uri="{BB962C8B-B14F-4D97-AF65-F5344CB8AC3E}">
        <p14:creationId xmlns:p14="http://schemas.microsoft.com/office/powerpoint/2010/main" val="4190218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277701B-1240-8679-C4AB-9B9B4FA5FEEE}"/>
              </a:ext>
            </a:extLst>
          </p:cNvPr>
          <p:cNvGrpSpPr/>
          <p:nvPr/>
        </p:nvGrpSpPr>
        <p:grpSpPr>
          <a:xfrm>
            <a:off x="2613955" y="-295998"/>
            <a:ext cx="6389631" cy="6802580"/>
            <a:chOff x="2625880" y="-586528"/>
            <a:chExt cx="6940239" cy="7388773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3FCA492-6987-0199-9FB8-1A663CF25C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375" r="12190" b="28603"/>
            <a:stretch/>
          </p:blipFill>
          <p:spPr>
            <a:xfrm>
              <a:off x="2625880" y="-586528"/>
              <a:ext cx="6940239" cy="738877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3A564FB-FD33-C64F-7EAC-361999B19F17}"/>
                </a:ext>
              </a:extLst>
            </p:cNvPr>
            <p:cNvSpPr txBox="1"/>
            <p:nvPr/>
          </p:nvSpPr>
          <p:spPr>
            <a:xfrm>
              <a:off x="3631877" y="1738273"/>
              <a:ext cx="534878" cy="501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IR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C18CE20-2FD6-394B-7A8B-7C1AD431F40D}"/>
                </a:ext>
              </a:extLst>
            </p:cNvPr>
            <p:cNvSpPr txBox="1"/>
            <p:nvPr/>
          </p:nvSpPr>
          <p:spPr>
            <a:xfrm>
              <a:off x="3631877" y="4790123"/>
              <a:ext cx="1316648" cy="501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Raman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9AD0097-4FE0-E36B-E976-B6149C49785B}"/>
              </a:ext>
            </a:extLst>
          </p:cNvPr>
          <p:cNvSpPr txBox="1"/>
          <p:nvPr/>
        </p:nvSpPr>
        <p:spPr>
          <a:xfrm>
            <a:off x="-26504" y="65065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solidFill>
                  <a:srgbClr val="000000"/>
                </a:solidFill>
                <a:latin typeface="Aptos" panose="020B0004020202020204" pitchFamily="34" charset="0"/>
              </a:rPr>
              <a:t>Nature Comm.</a:t>
            </a:r>
            <a: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GB" b="1" dirty="0">
                <a:solidFill>
                  <a:srgbClr val="000000"/>
                </a:solidFill>
                <a:latin typeface="Aptos" panose="020B0004020202020204" pitchFamily="34" charset="0"/>
              </a:rPr>
              <a:t>2023</a:t>
            </a:r>
            <a: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  <a:t>, </a:t>
            </a:r>
            <a:r>
              <a:rPr lang="en-GB" i="1" dirty="0">
                <a:latin typeface="Aptos" panose="020B0004020202020204" pitchFamily="34" charset="0"/>
              </a:rPr>
              <a:t>14</a:t>
            </a:r>
            <a:r>
              <a:rPr lang="en-GB" dirty="0">
                <a:latin typeface="Aptos" panose="020B0004020202020204" pitchFamily="34" charset="0"/>
              </a:rPr>
              <a:t>, 6308.</a:t>
            </a:r>
            <a:endParaRPr lang="en-GB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153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3037</TotalTime>
  <Words>1140</Words>
  <Application>Microsoft Macintosh PowerPoint</Application>
  <PresentationFormat>Widescreen</PresentationFormat>
  <Paragraphs>148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Symbol</vt:lpstr>
      <vt:lpstr>Office Theme</vt:lpstr>
      <vt:lpstr> A very short introduction to… Density functional theory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Theory: Zn porphene is a metallic conductor</vt:lpstr>
      <vt:lpstr>Frontier bands of Zn porphene</vt:lpstr>
      <vt:lpstr>Frontier bands of Zn porphene</vt:lpstr>
      <vt:lpstr>Frontier bands of Zn porphene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Roncevic</dc:creator>
  <cp:lastModifiedBy>Igor Roncevic</cp:lastModifiedBy>
  <cp:revision>8</cp:revision>
  <dcterms:created xsi:type="dcterms:W3CDTF">2026-02-21T19:39:02Z</dcterms:created>
  <dcterms:modified xsi:type="dcterms:W3CDTF">2026-02-24T11:44:39Z</dcterms:modified>
</cp:coreProperties>
</file>